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9b646581-1371-b6fa-ffca-07ee23c8eb42}">
          <p14:sldIdLst>
            <p14:sldId id="256"/>
            <p14:sldId id="257"/>
            <p14:sldId id="258"/>
          </p14:sldIdLst>
        </p14:section>
        <p14:section name="해결" id="{4f27de9c-0e53-274d-60a6-6a3460d9aafe}">
          <p14:sldIdLst>
            <p14:sldId id="259"/>
            <p14:sldId id="260"/>
            <p14:sldId id="261"/>
          </p14:sldIdLst>
        </p14:section>
        <p14:section name="시연" id="{a7240021-fadf-1ed2-2d38-f98dce969253}">
          <p14:sldIdLst>
            <p14:sldId id="262"/>
            <p14:sldId id="263"/>
            <p14:sldId id="264"/>
            <p14:sldId id="265"/>
            <p14:sldId id="266"/>
          </p14:sldIdLst>
        </p14:section>
        <p14:section name="구현" id="{62866cd8-cb34-344b-32c6-8b3ec7490418}">
          <p14:sldIdLst>
            <p14:sldId id="267"/>
            <p14:sldId id="268"/>
            <p14:sldId id="269"/>
          </p14:sldIdLst>
        </p14:section>
        <p14:section name="마무리" id="{c2b70ff1-3479-30bf-5d7a-d19c8f595e2c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데이터 기반 프로토타입입니다. 시연 순서는 ①→⑦이며 약 12분입니다.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담당자가 겪는 네 가지 상황입니다. 핵심은 '기억'과 '검증'이 사람 머릿속에만 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수치는 검색 요약에서 가져온 것이라 발표 전에 원문 확인이 필요합니다. 확인 전에는 '출처 확인 필요' 태그를 유지합니다.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슬라이드입니다. '지어내지 못하게' 하는 장치가 프롬프트가 아니라 스키마·코드·승인 절차에 있다는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담당자가 바뀌어도 과거 답변이 항목 단위로 따라옵니다.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대조에는 AI를 쓰지 않습니다. 단서는 제출값과 함께 저장한 근거 필드의 차이에서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초안의 숫자는 확정 수치 표에서만 인용됩니다. 데이터가 없는 항목은 지어내지 않고 [확인 필요]로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서버가 없습니다. SQLite 파일 하나가 이력 전부라서 백업이 곧 운영입니다. API는 설정 화면에서 세션 한정으로 켜고 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경로 100%는 사례에 맞춘 결과라 자랑거리가 아닙니다. Claude 경로가 실제 점검 대상이고, 1차에서 놓친 연도 없는 날짜를 프롬프트 규칙으로 보완했습니다.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비용은 공개 단가표로 추정한 값입니다. 실제 청구는 콘솔에서 확인해야 하며, 월 호출량이 정해지면 다시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요청 사항 세 가지를 명확히 말합니다. 실데이터 1개 지표부터 시작하면 2주 안에 실사용 검증이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EBS 지역교육협력부 · 프로토타입(데이터 전부 가상) · 2026-10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EBS 대외 요구자료 대응 에이전트 · 프로토타입(가상 데이터)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5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EBS 대외 요구자료 대응 에이전트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언제, 누구에게, 어떤 근거로 답했는지 기억하고 — 다음 답변의 수치와 문서를 검증합니다</a:t>
            </a:r>
            <a:endParaRPr lang="en-US" sz="2000" dirty="0"/>
          </a:p>
        </p:txBody>
      </p:sp>
      <p:sp>
        <p:nvSpPr>
          <p:cNvPr id="4" name="circle-①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ircle-label-①"/>
          <p:cNvSpPr txBox="1"/>
          <p:nvPr/>
        </p:nvSpPr>
        <p:spPr>
          <a:xfrm>
            <a:off x="7315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①</a:t>
            </a:r>
            <a:endParaRPr lang="en-US" sz="1600" dirty="0"/>
          </a:p>
        </p:txBody>
      </p:sp>
      <p:sp>
        <p:nvSpPr>
          <p:cNvPr id="6" name="circle-②"/>
          <p:cNvSpPr/>
          <p:nvPr/>
        </p:nvSpPr>
        <p:spPr>
          <a:xfrm>
            <a:off x="1417320" y="1188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circle-label-②"/>
          <p:cNvSpPr txBox="1"/>
          <p:nvPr/>
        </p:nvSpPr>
        <p:spPr>
          <a:xfrm>
            <a:off x="1417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②</a:t>
            </a:r>
            <a:endParaRPr lang="en-US" sz="1600" dirty="0"/>
          </a:p>
        </p:txBody>
      </p:sp>
      <p:sp>
        <p:nvSpPr>
          <p:cNvPr id="8" name="circle-③"/>
          <p:cNvSpPr/>
          <p:nvPr/>
        </p:nvSpPr>
        <p:spPr>
          <a:xfrm>
            <a:off x="210312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ircle-label-③"/>
          <p:cNvSpPr txBox="1"/>
          <p:nvPr/>
        </p:nvSpPr>
        <p:spPr>
          <a:xfrm>
            <a:off x="21031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③</a:t>
            </a:r>
            <a:endParaRPr lang="en-US" sz="1600" dirty="0"/>
          </a:p>
        </p:txBody>
      </p:sp>
      <p:sp>
        <p:nvSpPr>
          <p:cNvPr id="10" name="circle-④"/>
          <p:cNvSpPr/>
          <p:nvPr/>
        </p:nvSpPr>
        <p:spPr>
          <a:xfrm>
            <a:off x="2788920" y="1188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ircle-label-④"/>
          <p:cNvSpPr txBox="1"/>
          <p:nvPr/>
        </p:nvSpPr>
        <p:spPr>
          <a:xfrm>
            <a:off x="27889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④</a:t>
            </a:r>
            <a:endParaRPr lang="en-US" sz="1600" dirty="0"/>
          </a:p>
        </p:txBody>
      </p:sp>
      <p:sp>
        <p:nvSpPr>
          <p:cNvPr id="12" name="circle-⑤"/>
          <p:cNvSpPr/>
          <p:nvPr/>
        </p:nvSpPr>
        <p:spPr>
          <a:xfrm>
            <a:off x="347472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ircle-label-⑤"/>
          <p:cNvSpPr txBox="1"/>
          <p:nvPr/>
        </p:nvSpPr>
        <p:spPr>
          <a:xfrm>
            <a:off x="34747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⑤</a:t>
            </a:r>
            <a:endParaRPr lang="en-US" sz="1600" dirty="0"/>
          </a:p>
        </p:txBody>
      </p:sp>
      <p:sp>
        <p:nvSpPr>
          <p:cNvPr id="14" name="circle-⑥"/>
          <p:cNvSpPr/>
          <p:nvPr/>
        </p:nvSpPr>
        <p:spPr>
          <a:xfrm>
            <a:off x="4160520" y="1188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circle-label-⑥"/>
          <p:cNvSpPr txBox="1"/>
          <p:nvPr/>
        </p:nvSpPr>
        <p:spPr>
          <a:xfrm>
            <a:off x="41605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⑥</a:t>
            </a:r>
            <a:endParaRPr lang="en-US" sz="1600" dirty="0"/>
          </a:p>
        </p:txBody>
      </p:sp>
      <p:sp>
        <p:nvSpPr>
          <p:cNvPr id="16" name="circle-⑦"/>
          <p:cNvSpPr/>
          <p:nvPr/>
        </p:nvSpPr>
        <p:spPr>
          <a:xfrm>
            <a:off x="484632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ircle-label-⑦"/>
          <p:cNvSpPr txBox="1"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⑦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같은 숫자를 다시 묻고, 그때마다 다른 숫자가 나간다</a:t>
            </a:r>
            <a:endParaRPr lang="en-US" sz="2800" dirty="0"/>
          </a:p>
        </p:txBody>
      </p:sp>
      <p:sp>
        <p:nvSpPr>
          <p:cNvPr id="3" name="card-반복 요구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1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ircle-label-1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-title-반복 요구"/>
          <p:cNvSpPr txBox="1"/>
          <p:nvPr/>
        </p:nvSpPr>
        <p:spPr>
          <a:xfrm>
            <a:off x="123444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반복 요구</a:t>
            </a:r>
            <a:endParaRPr lang="en-US" sz="1700" dirty="0"/>
          </a:p>
        </p:txBody>
      </p:sp>
      <p:sp>
        <p:nvSpPr>
          <p:cNvPr id="7" name="card-body-반복 요구"/>
          <p:cNvSpPr txBox="1"/>
          <p:nvPr/>
        </p:nvSpPr>
        <p:spPr>
          <a:xfrm>
            <a:off x="777240" y="20574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같은 지표(6/30 기준 등원율)를 시기·요구 주체만 바꿔 다시 요구. 과거 제출값을 찾는 데 시간이 들고, 담당자가 바뀌면 이력이 끊김</a:t>
            </a:r>
            <a:endParaRPr lang="en-US" sz="1400" dirty="0"/>
          </a:p>
        </p:txBody>
      </p:sp>
      <p:sp>
        <p:nvSpPr>
          <p:cNvPr id="8" name="card-수치 불일치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-2"/>
          <p:cNvSpPr/>
          <p:nvPr/>
        </p:nvSpPr>
        <p:spPr>
          <a:xfrm>
            <a:off x="635508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rcle-label-2"/>
          <p:cNvSpPr txBox="1"/>
          <p:nvPr/>
        </p:nvSpPr>
        <p:spPr>
          <a:xfrm>
            <a:off x="6355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-title-수치 불일치"/>
          <p:cNvSpPr txBox="1"/>
          <p:nvPr/>
        </p:nvSpPr>
        <p:spPr>
          <a:xfrm>
            <a:off x="685800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수치 불일치</a:t>
            </a:r>
            <a:endParaRPr lang="en-US" sz="1700" dirty="0"/>
          </a:p>
        </p:txBody>
      </p:sp>
      <p:sp>
        <p:nvSpPr>
          <p:cNvPr id="12" name="card-body-수치 불일치"/>
          <p:cNvSpPr txBox="1"/>
          <p:nvPr/>
        </p:nvSpPr>
        <p:spPr>
          <a:xfrm>
            <a:off x="6400800" y="20574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원자료가 사후 보정되어 같은 기준일 수치가 제출 시점마다 달라짐. 의원실과 교육부에 낸 수치가 서로 달라 '왜 다른가' 추가 요구</a:t>
            </a:r>
            <a:endParaRPr lang="en-US" sz="1400" dirty="0"/>
          </a:p>
        </p:txBody>
      </p:sp>
      <p:sp>
        <p:nvSpPr>
          <p:cNvPr id="13" name="card-문안 위험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le-3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ircle-label-3"/>
          <p:cNvSpPr txBox="1"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-title-문안 위험"/>
          <p:cNvSpPr txBox="1"/>
          <p:nvPr/>
        </p:nvSpPr>
        <p:spPr>
          <a:xfrm>
            <a:off x="123444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문안 위험</a:t>
            </a:r>
            <a:endParaRPr lang="en-US" sz="1700" dirty="0"/>
          </a:p>
        </p:txBody>
      </p:sp>
      <p:sp>
        <p:nvSpPr>
          <p:cNvPr id="17" name="card-body-문안 위험"/>
          <p:cNvSpPr txBox="1"/>
          <p:nvPr/>
        </p:nvSpPr>
        <p:spPr>
          <a:xfrm>
            <a:off x="777240" y="443484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회신 문안을 매번 새로 작성. 항목 누락·기준일 오기·과장 표현 위험</a:t>
            </a:r>
            <a:endParaRPr lang="en-US" sz="1400" dirty="0"/>
          </a:p>
        </p:txBody>
      </p:sp>
      <p:sp>
        <p:nvSpPr>
          <p:cNvPr id="18" name="card-근거 소실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ircle-4"/>
          <p:cNvSpPr/>
          <p:nvPr/>
        </p:nvSpPr>
        <p:spPr>
          <a:xfrm>
            <a:off x="635508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ircle-label-4"/>
          <p:cNvSpPr txBox="1"/>
          <p:nvPr/>
        </p:nvSpPr>
        <p:spPr>
          <a:xfrm>
            <a:off x="6355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-title-근거 소실"/>
          <p:cNvSpPr txBox="1"/>
          <p:nvPr/>
        </p:nvSpPr>
        <p:spPr>
          <a:xfrm>
            <a:off x="685800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근거 소실</a:t>
            </a:r>
            <a:endParaRPr lang="en-US" sz="1700" dirty="0"/>
          </a:p>
        </p:txBody>
      </p:sp>
      <p:sp>
        <p:nvSpPr>
          <p:cNvPr id="22" name="card-body-근거 소실"/>
          <p:cNvSpPr txBox="1"/>
          <p:nvPr/>
        </p:nvSpPr>
        <p:spPr>
          <a:xfrm>
            <a:off x="6400800" y="443484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지표 정의·집계기간·추출시점·원자료 버전이 파일 밖에 남지 않아 사후 소명이 어려움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외부에서도 같은 문제가 보고됩니다</a:t>
            </a:r>
            <a:endParaRPr lang="en-US" sz="2800" dirty="0"/>
          </a:p>
        </p:txBody>
      </p:sp>
      <p:sp>
        <p:nvSpPr>
          <p:cNvPr id="3" name="tag-출처 원문 확인 필요"/>
          <p:cNvSpPr/>
          <p:nvPr/>
        </p:nvSpPr>
        <p:spPr>
          <a:xfrm>
            <a:off x="9875520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ag-text-출처 원문 확인 필요"/>
          <p:cNvSpPr txBox="1"/>
          <p:nvPr/>
        </p:nvSpPr>
        <p:spPr>
          <a:xfrm>
            <a:off x="9875520" y="502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출처 원문 확인 필요</a:t>
            </a:r>
            <a:endParaRPr lang="en-US" sz="1000" dirty="0"/>
          </a:p>
        </p:txBody>
      </p:sp>
      <p:sp>
        <p:nvSpPr>
          <p:cNvPr id="5" name="card-반복 요구·초과근무"/>
          <p:cNvSpPr/>
          <p:nvPr/>
        </p:nvSpPr>
        <p:spPr>
          <a:xfrm>
            <a:off x="548640" y="1371600"/>
            <a:ext cx="3611880" cy="36576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title-반복 요구·초과근무"/>
          <p:cNvSpPr txBox="1"/>
          <p:nvPr/>
        </p:nvSpPr>
        <p:spPr>
          <a:xfrm>
            <a:off x="77724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반복 요구·초과근무</a:t>
            </a:r>
            <a:endParaRPr lang="en-US" sz="1500" dirty="0"/>
          </a:p>
        </p:txBody>
      </p:sp>
      <p:sp>
        <p:nvSpPr>
          <p:cNvPr id="7" name="card-body-반복 요구·초과근무"/>
          <p:cNvSpPr txBox="1"/>
          <p:nvPr/>
        </p:nvSpPr>
        <p:spPr>
          <a:xfrm>
            <a:off x="777240" y="2057400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공무원 설문(884명): 이미 제출한 자료와 유사한 자료를 7회 이상 요구받은 비율 35%(국가직·소방직), 3회 이상 59%(광역시·도). 국감 준비 초과근무 45~56%.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대상은 공무원이며 공영방송 수치는 아닙니다.</a:t>
            </a:r>
            <a:endParaRPr lang="en-US" sz="1200" dirty="0"/>
          </a:p>
        </p:txBody>
      </p:sp>
      <p:sp>
        <p:nvSpPr>
          <p:cNvPr id="8" name="card-수치 오류·정의 차이"/>
          <p:cNvSpPr/>
          <p:nvPr/>
        </p:nvSpPr>
        <p:spPr>
          <a:xfrm>
            <a:off x="4297680" y="1371600"/>
            <a:ext cx="3611880" cy="36576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title-수치 오류·정의 차이"/>
          <p:cNvSpPr txBox="1"/>
          <p:nvPr/>
        </p:nvSpPr>
        <p:spPr>
          <a:xfrm>
            <a:off x="452628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수치 오류·정의 차이</a:t>
            </a:r>
            <a:endParaRPr lang="en-US" sz="1500" dirty="0"/>
          </a:p>
        </p:txBody>
      </p:sp>
      <p:sp>
        <p:nvSpPr>
          <p:cNvPr id="10" name="card-body-수치 오류·정의 차이"/>
          <p:cNvSpPr txBox="1"/>
          <p:nvPr/>
        </p:nvSpPr>
        <p:spPr>
          <a:xfrm>
            <a:off x="4526280" y="2057400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국감 제출 자료의 엑셀 셀 오류로 잘못된 통계가 제출된 사례. 데이터는 맞지만 모수 정의가 달라 결과가 잘못 읽힌 사례.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→ 수치와 함께 '정의·집계기간·원자료 버전'을 남겨야 하는 이유</a:t>
            </a:r>
            <a:endParaRPr lang="en-US" sz="1200" dirty="0"/>
          </a:p>
        </p:txBody>
      </p:sp>
      <p:sp>
        <p:nvSpPr>
          <p:cNvPr id="11" name="card-AI 활용 보안 원칙"/>
          <p:cNvSpPr/>
          <p:nvPr/>
        </p:nvSpPr>
        <p:spPr>
          <a:xfrm>
            <a:off x="8046720" y="1371600"/>
            <a:ext cx="3611880" cy="36576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rd-title-AI 활용 보안 원칙"/>
          <p:cNvSpPr txBox="1"/>
          <p:nvPr/>
        </p:nvSpPr>
        <p:spPr>
          <a:xfrm>
            <a:off x="827532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활용 보안 원칙</a:t>
            </a:r>
            <a:endParaRPr lang="en-US" sz="1500" dirty="0"/>
          </a:p>
        </p:txBody>
      </p:sp>
      <p:sp>
        <p:nvSpPr>
          <p:cNvPr id="13" name="card-body-AI 활용 보안 원칙"/>
          <p:cNvSpPr txBox="1"/>
          <p:nvPr/>
        </p:nvSpPr>
        <p:spPr>
          <a:xfrm>
            <a:off x="8275320" y="2057400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국정원 생성형 AI 보안 가이드라인(2023): 비공개·개인정보 입력 금지, 생성물 재검증. 행안부는 업무망 내부에 AI 행정지원 서비스 구축(2024).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→ 입력 범위 제한 + 코드·사람 재검증으로 설계</a:t>
            </a:r>
            <a:endParaRPr lang="en-US" sz="1200" dirty="0"/>
          </a:p>
        </p:txBody>
      </p:sp>
      <p:sp>
        <p:nvSpPr>
          <p:cNvPr id="14" name="src-note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출처 목록: docs/조사_배경자료_2026-10-04.md (검색 요약 기반, 발표 전 원문 확인)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AI는 읽고 쓰고 지적한다. 숫자는 코드가, 판단은 사람이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역할 경계를 코드로 강제한 담당자 보조 도구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세 주체의 역할 경계</a:t>
            </a:r>
            <a:endParaRPr lang="en-US" sz="2800" dirty="0"/>
          </a:p>
        </p:txBody>
      </p:sp>
      <p:sp>
        <p:nvSpPr>
          <p:cNvPr id="3" name="role-0"/>
          <p:cNvSpPr/>
          <p:nvPr/>
        </p:nvSpPr>
        <p:spPr>
          <a:xfrm>
            <a:off x="548640" y="1371600"/>
            <a:ext cx="3611880" cy="41148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ole-dot-0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ole-title-0"/>
          <p:cNvSpPr txBox="1"/>
          <p:nvPr/>
        </p:nvSpPr>
        <p:spPr>
          <a:xfrm>
            <a:off x="13716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(Claude API)</a:t>
            </a:r>
            <a:endParaRPr lang="en-US" sz="1600" dirty="0"/>
          </a:p>
        </p:txBody>
      </p:sp>
      <p:sp>
        <p:nvSpPr>
          <p:cNvPr id="6" name="role-body-0"/>
          <p:cNvSpPr txBox="1"/>
          <p:nvPr/>
        </p:nvSpPr>
        <p:spPr>
          <a:xfrm>
            <a:off x="777240" y="22402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요구서에서 항목·지표·기준일·기간 추출 — 지표명은 사전 값만(스키마 열거형으로 강제)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확정 수치·입력된 사유만으로 공문체 초안 작성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초안의 누락·불일치·단정 표현 지적(수정은 하지 않음)</a:t>
            </a:r>
            <a:endParaRPr lang="en-US" sz="1200" dirty="0"/>
          </a:p>
        </p:txBody>
      </p:sp>
      <p:sp>
        <p:nvSpPr>
          <p:cNvPr id="7" name="role-foot-0"/>
          <p:cNvSpPr txBox="1"/>
          <p:nvPr/>
        </p:nvSpPr>
        <p:spPr>
          <a:xfrm>
            <a:off x="777240" y="4617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하지 않는 것: 수치 계산·추정, 사유 추정, 원자료 접근</a:t>
            </a:r>
            <a:endParaRPr lang="en-US" sz="1100" dirty="0"/>
          </a:p>
        </p:txBody>
      </p:sp>
      <p:sp>
        <p:nvSpPr>
          <p:cNvPr id="8" name="role-1"/>
          <p:cNvSpPr/>
          <p:nvPr/>
        </p:nvSpPr>
        <p:spPr>
          <a:xfrm>
            <a:off x="4343400" y="1371600"/>
            <a:ext cx="3611880" cy="41148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ole-dot-1"/>
          <p:cNvSpPr/>
          <p:nvPr/>
        </p:nvSpPr>
        <p:spPr>
          <a:xfrm>
            <a:off x="457200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role-title-1"/>
          <p:cNvSpPr txBox="1"/>
          <p:nvPr/>
        </p:nvSpPr>
        <p:spPr>
          <a:xfrm>
            <a:off x="51663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코드 (pandas·규칙)</a:t>
            </a:r>
            <a:endParaRPr lang="en-US" sz="1600" dirty="0"/>
          </a:p>
        </p:txBody>
      </p:sp>
      <p:sp>
        <p:nvSpPr>
          <p:cNvPr id="11" name="role-body-1"/>
          <p:cNvSpPr txBox="1"/>
          <p:nvPr/>
        </p:nvSpPr>
        <p:spPr>
          <a:xfrm>
            <a:off x="4572000" y="22402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새 집계값 vs 과거 제출값 대조, 차이 센터와 '단서'(근거 필드 변경)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요구 항목 충족 검사, 개인정보 패턴 검사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HWPX 템플릿 치환·표 행 복제, 제출 묶음 생성</a:t>
            </a:r>
            <a:endParaRPr lang="en-US" sz="1200" dirty="0"/>
          </a:p>
        </p:txBody>
      </p:sp>
      <p:sp>
        <p:nvSpPr>
          <p:cNvPr id="12" name="role-foot-1"/>
          <p:cNvSpPr txBox="1"/>
          <p:nvPr/>
        </p:nvSpPr>
        <p:spPr>
          <a:xfrm>
            <a:off x="4572000" y="4617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API 키가 없어도 같은 흐름이 규칙 기반으로 동작</a:t>
            </a:r>
            <a:endParaRPr lang="en-US" sz="1100" dirty="0"/>
          </a:p>
        </p:txBody>
      </p:sp>
      <p:sp>
        <p:nvSpPr>
          <p:cNvPr id="13" name="role-2"/>
          <p:cNvSpPr/>
          <p:nvPr/>
        </p:nvSpPr>
        <p:spPr>
          <a:xfrm>
            <a:off x="8138160" y="1371600"/>
            <a:ext cx="3611880" cy="41148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ole-dot-2"/>
          <p:cNvSpPr/>
          <p:nvPr/>
        </p:nvSpPr>
        <p:spPr>
          <a:xfrm>
            <a:off x="836676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role-title-2"/>
          <p:cNvSpPr txBox="1"/>
          <p:nvPr/>
        </p:nvSpPr>
        <p:spPr>
          <a:xfrm>
            <a:off x="89611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사람 (담당자·팀장)</a:t>
            </a:r>
            <a:endParaRPr lang="en-US" sz="1600" dirty="0"/>
          </a:p>
        </p:txBody>
      </p:sp>
      <p:sp>
        <p:nvSpPr>
          <p:cNvPr id="16" name="role-body-2"/>
          <p:cNvSpPr txBox="1"/>
          <p:nvPr/>
        </p:nvSpPr>
        <p:spPr>
          <a:xfrm>
            <a:off x="8366760" y="22402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추출 결과 확인·수정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차이 사유 입력(AI가 추정하지 않음)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초안 수정, 팀장 승인 → 확정</a:t>
            </a:r>
            <a:endParaRPr lang="en-US" sz="1200" dirty="0"/>
          </a:p>
        </p:txBody>
      </p:sp>
      <p:sp>
        <p:nvSpPr>
          <p:cNvPr id="17" name="role-foot-2"/>
          <p:cNvSpPr txBox="1"/>
          <p:nvPr/>
        </p:nvSpPr>
        <p:spPr>
          <a:xfrm>
            <a:off x="8366760" y="4617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승인 없이는 아무것도 확정되지 않음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7개 화면, 한 번의 흐름</a:t>
            </a:r>
            <a:endParaRPr lang="en-US" sz="2800" dirty="0"/>
          </a:p>
        </p:txBody>
      </p:sp>
      <p:sp>
        <p:nvSpPr>
          <p:cNvPr id="3" name="step-0"/>
          <p:cNvSpPr/>
          <p:nvPr/>
        </p:nvSpPr>
        <p:spPr>
          <a:xfrm>
            <a:off x="548640" y="141732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ircle-label-1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tep-title-0"/>
          <p:cNvSpPr txBox="1"/>
          <p:nvPr/>
        </p:nvSpPr>
        <p:spPr>
          <a:xfrm>
            <a:off x="132588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과거 자료 등록</a:t>
            </a:r>
            <a:endParaRPr lang="en-US" sz="1400" dirty="0"/>
          </a:p>
        </p:txBody>
      </p:sp>
      <p:sp>
        <p:nvSpPr>
          <p:cNvPr id="7" name="step-body-0"/>
          <p:cNvSpPr txBox="1"/>
          <p:nvPr/>
        </p:nvSpPr>
        <p:spPr>
          <a:xfrm>
            <a:off x="731520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요구서+제출본 → 항목·지표·기준일 구조화, 산출 근거·출처 저장</a:t>
            </a:r>
            <a:endParaRPr lang="en-US" sz="1150" dirty="0"/>
          </a:p>
        </p:txBody>
      </p:sp>
      <p:sp>
        <p:nvSpPr>
          <p:cNvPr id="8" name="arrow-0"/>
          <p:cNvSpPr/>
          <p:nvPr/>
        </p:nvSpPr>
        <p:spPr>
          <a:xfrm>
            <a:off x="3218688" y="2427732"/>
            <a:ext cx="146304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-1"/>
          <p:cNvSpPr/>
          <p:nvPr/>
        </p:nvSpPr>
        <p:spPr>
          <a:xfrm>
            <a:off x="3383280" y="141732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-2"/>
          <p:cNvSpPr/>
          <p:nvPr/>
        </p:nvSpPr>
        <p:spPr>
          <a:xfrm>
            <a:off x="356616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ircle-label-2"/>
          <p:cNvSpPr txBox="1"/>
          <p:nvPr/>
        </p:nvSpPr>
        <p:spPr>
          <a:xfrm>
            <a:off x="35661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tep-title-1"/>
          <p:cNvSpPr txBox="1"/>
          <p:nvPr/>
        </p:nvSpPr>
        <p:spPr>
          <a:xfrm>
            <a:off x="416052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새 요구서 분석</a:t>
            </a:r>
            <a:endParaRPr lang="en-US" sz="1400" dirty="0"/>
          </a:p>
        </p:txBody>
      </p:sp>
      <p:sp>
        <p:nvSpPr>
          <p:cNvPr id="13" name="step-body-1"/>
          <p:cNvSpPr txBox="1"/>
          <p:nvPr/>
        </p:nvSpPr>
        <p:spPr>
          <a:xfrm>
            <a:off x="3566160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같은 기준일·지표의 과거 제출 이력, 유사 요구서, 데이터 출처 제안</a:t>
            </a:r>
            <a:endParaRPr lang="en-US" sz="1150" dirty="0"/>
          </a:p>
        </p:txBody>
      </p:sp>
      <p:sp>
        <p:nvSpPr>
          <p:cNvPr id="14" name="arrow-1"/>
          <p:cNvSpPr/>
          <p:nvPr/>
        </p:nvSpPr>
        <p:spPr>
          <a:xfrm>
            <a:off x="6053328" y="2427732"/>
            <a:ext cx="146304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tep-2"/>
          <p:cNvSpPr/>
          <p:nvPr/>
        </p:nvSpPr>
        <p:spPr>
          <a:xfrm>
            <a:off x="6217920" y="141732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le-3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circle-label-3"/>
          <p:cNvSpPr txBox="1"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tep-title-2"/>
          <p:cNvSpPr txBox="1"/>
          <p:nvPr/>
        </p:nvSpPr>
        <p:spPr>
          <a:xfrm>
            <a:off x="69951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수치 대조·점검표</a:t>
            </a:r>
            <a:endParaRPr lang="en-US" sz="1400" dirty="0"/>
          </a:p>
        </p:txBody>
      </p:sp>
      <p:sp>
        <p:nvSpPr>
          <p:cNvPr id="19" name="step-body-2"/>
          <p:cNvSpPr txBox="1"/>
          <p:nvPr/>
        </p:nvSpPr>
        <p:spPr>
          <a:xfrm>
            <a:off x="6400800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차이 센터·단서 → 사유 입력 → 정합성 점검표 → 개인정보 검사</a:t>
            </a:r>
            <a:endParaRPr lang="en-US" sz="1150" dirty="0"/>
          </a:p>
        </p:txBody>
      </p:sp>
      <p:sp>
        <p:nvSpPr>
          <p:cNvPr id="20" name="arrow-2"/>
          <p:cNvSpPr/>
          <p:nvPr/>
        </p:nvSpPr>
        <p:spPr>
          <a:xfrm>
            <a:off x="8887968" y="2427732"/>
            <a:ext cx="146304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tep-3"/>
          <p:cNvSpPr/>
          <p:nvPr/>
        </p:nvSpPr>
        <p:spPr>
          <a:xfrm>
            <a:off x="9052560" y="141732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ircle-4"/>
          <p:cNvSpPr/>
          <p:nvPr/>
        </p:nvSpPr>
        <p:spPr>
          <a:xfrm>
            <a:off x="923544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circle-label-4"/>
          <p:cNvSpPr txBox="1"/>
          <p:nvPr/>
        </p:nvSpPr>
        <p:spPr>
          <a:xfrm>
            <a:off x="9235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step-title-3"/>
          <p:cNvSpPr txBox="1"/>
          <p:nvPr/>
        </p:nvSpPr>
        <p:spPr>
          <a:xfrm>
            <a:off x="98298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회신 초안·HWPX</a:t>
            </a:r>
            <a:endParaRPr lang="en-US" sz="1400" dirty="0"/>
          </a:p>
        </p:txBody>
      </p:sp>
      <p:sp>
        <p:nvSpPr>
          <p:cNvPr id="25" name="step-body-3"/>
          <p:cNvSpPr txBox="1"/>
          <p:nvPr/>
        </p:nvSpPr>
        <p:spPr>
          <a:xfrm>
            <a:off x="9235440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공문체 초안 → 충족 검사 → Claude 추가 점검 → HWPX·제출 묶음</a:t>
            </a:r>
            <a:endParaRPr lang="en-US" sz="1150" dirty="0"/>
          </a:p>
        </p:txBody>
      </p:sp>
      <p:sp>
        <p:nvSpPr>
          <p:cNvPr id="26" name="step-4"/>
          <p:cNvSpPr/>
          <p:nvPr/>
        </p:nvSpPr>
        <p:spPr>
          <a:xfrm>
            <a:off x="548640" y="393192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ircle-5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circle-label-5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step-title-4"/>
          <p:cNvSpPr txBox="1"/>
          <p:nvPr/>
        </p:nvSpPr>
        <p:spPr>
          <a:xfrm>
            <a:off x="132588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검토·승인</a:t>
            </a:r>
            <a:endParaRPr lang="en-US" sz="1400" dirty="0"/>
          </a:p>
        </p:txBody>
      </p:sp>
      <p:sp>
        <p:nvSpPr>
          <p:cNvPr id="30" name="step-body-4"/>
          <p:cNvSpPr txBox="1"/>
          <p:nvPr/>
        </p:nvSpPr>
        <p:spPr>
          <a:xfrm>
            <a:off x="731520" y="47091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팀장 승인·반려·의견 기록</a:t>
            </a:r>
            <a:endParaRPr lang="en-US" sz="1150" dirty="0"/>
          </a:p>
        </p:txBody>
      </p:sp>
      <p:sp>
        <p:nvSpPr>
          <p:cNvPr id="31" name="step-5"/>
          <p:cNvSpPr/>
          <p:nvPr/>
        </p:nvSpPr>
        <p:spPr>
          <a:xfrm>
            <a:off x="3383280" y="393192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circle-6"/>
          <p:cNvSpPr/>
          <p:nvPr/>
        </p:nvSpPr>
        <p:spPr>
          <a:xfrm>
            <a:off x="356616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circle-label-6"/>
          <p:cNvSpPr txBox="1"/>
          <p:nvPr/>
        </p:nvSpPr>
        <p:spPr>
          <a:xfrm>
            <a:off x="35661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step-title-5"/>
          <p:cNvSpPr txBox="1"/>
          <p:nvPr/>
        </p:nvSpPr>
        <p:spPr>
          <a:xfrm>
            <a:off x="416052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이력 조회</a:t>
            </a:r>
            <a:endParaRPr lang="en-US" sz="1400" dirty="0"/>
          </a:p>
        </p:txBody>
      </p:sp>
      <p:sp>
        <p:nvSpPr>
          <p:cNvPr id="35" name="step-body-5"/>
          <p:cNvSpPr txBox="1"/>
          <p:nvPr/>
        </p:nvSpPr>
        <p:spPr>
          <a:xfrm>
            <a:off x="3566160" y="47091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요구→항목→제출값→사유→초안→승인 한 줄, 키워드 검색</a:t>
            </a:r>
            <a:endParaRPr lang="en-US" sz="1150" dirty="0"/>
          </a:p>
        </p:txBody>
      </p:sp>
      <p:sp>
        <p:nvSpPr>
          <p:cNvPr id="36" name="step-6"/>
          <p:cNvSpPr/>
          <p:nvPr/>
        </p:nvSpPr>
        <p:spPr>
          <a:xfrm>
            <a:off x="6217920" y="3931920"/>
            <a:ext cx="2651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circle-7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circle-label-7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step-title-6"/>
          <p:cNvSpPr txBox="1"/>
          <p:nvPr/>
        </p:nvSpPr>
        <p:spPr>
          <a:xfrm>
            <a:off x="699516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현황·통계</a:t>
            </a:r>
            <a:endParaRPr lang="en-US" sz="1400" dirty="0"/>
          </a:p>
        </p:txBody>
      </p:sp>
      <p:sp>
        <p:nvSpPr>
          <p:cNvPr id="40" name="step-body-6"/>
          <p:cNvSpPr txBox="1"/>
          <p:nvPr/>
        </p:nvSpPr>
        <p:spPr>
          <a:xfrm>
            <a:off x="6400800" y="470916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D-day·기한 임박, 관리대장 엑셀, 반복 요구 지표</a:t>
            </a:r>
            <a:endParaRPr lang="en-US" sz="1150" dirty="0"/>
          </a:p>
        </p:txBody>
      </p:sp>
      <p:sp>
        <p:nvSpPr>
          <p:cNvPr id="41" name="flow-note"/>
          <p:cNvSpPr txBox="1"/>
          <p:nvPr/>
        </p:nvSpPr>
        <p:spPr>
          <a:xfrm>
            <a:off x="9052560" y="3931920"/>
            <a:ext cx="2606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주황 번호(③·④)가 '검증'의 핵심 단계입니다. 설정 화면에서 API 연결·모델·비용을 확인합니다.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시연 — 9월 국감 요구서가 7월 수치를 다시 묻는다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샘플: 센터 12곳 등원율(6/30 기준), 7월 제출본 vs 9월 재산출본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② 새 요구서 분석 — '7월에 의원실에 이 값으로 답했다'가 붙는다</a:t>
            </a:r>
            <a:endParaRPr lang="en-US" sz="2800" dirty="0"/>
          </a:p>
        </p:txBody>
      </p:sp>
      <p:sp>
        <p:nvSpPr>
          <p:cNvPr id="3" name="frame-02_새요구서분석.png"/>
          <p:cNvSpPr/>
          <p:nvPr/>
        </p:nvSpPr>
        <p:spPr>
          <a:xfrm>
            <a:off x="475488" y="1298448"/>
            <a:ext cx="7095744" cy="4581144"/>
          </a:xfrm>
          <a:prstGeom prst="roundRect">
            <a:avLst>
              <a:gd name="adj" fmla="val 19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hot-02_새요구서분석.png" descr="/tmp/claude-0/-home-user-ebsjajucenter/339b2177-8504-5831-abfe-1ed2cf264c84/scratchpad/deck/img/02_새요구서분석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434840"/>
          </a:xfrm>
          <a:prstGeom prst="rect">
            <a:avLst/>
          </a:prstGeom>
        </p:spPr>
      </p:pic>
      <p:sp>
        <p:nvSpPr>
          <p:cNvPr id="5" name="cap-02_새요구서분석.png"/>
          <p:cNvSpPr txBox="1"/>
          <p:nvPr/>
        </p:nvSpPr>
        <p:spPr>
          <a:xfrm>
            <a:off x="548640" y="5916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캡처(규칙 경로, 2026-10-04)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7863840" y="137160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접수일·기한·제목·항목을 구조화하고 유사한 과거 요구서(#1, 유사도 0.81)를 찾음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'6/30 기준 등원율' 항목에 2026-07-08 제출 12건과 산출 근거(정의·집계기간·추출시점·원자료 v1)가 붙음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'등록 학생 수'는 같은 기준일 이력 없음 → 신규 산출·근거 기록 필요로 제안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'최근 3년 운영 예산·집행률'은 지표 2개로 분리, 기준일 없음 → 확인 필요</a:t>
            </a:r>
            <a:endParaRPr lang="en-US" sz="1250" dirty="0"/>
          </a:p>
        </p:txBody>
      </p:sp>
      <p:sp>
        <p:nvSpPr>
          <p:cNvPr id="7" name="tbl-title-항목별 데이터 제안 판단(코드)"/>
          <p:cNvSpPr txBox="1"/>
          <p:nvPr/>
        </p:nvSpPr>
        <p:spPr>
          <a:xfrm>
            <a:off x="786384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항목별 데이터 제안 판단(코드)</a:t>
            </a:r>
            <a:endParaRPr lang="en-US" sz="1100" dirty="0"/>
          </a:p>
        </p:txBody>
      </p:sp>
      <p:graphicFrame>
        <p:nvGraphicFramePr>
          <p:cNvPr id="9" name="tbl-항목별 데이터 제안 판단(코드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4389120"/>
          <a:ext cx="3794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같은 지표·기준일 제출 이력 있음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새 집계값과 대조 후 재사용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같은 기준일 이력 없음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신규 산출, 산출 근거 기록 필요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기준일 없음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요구서에서 기준일 확인 필요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지표 미인식(사전에 없음)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항목 문구 확인 또는 지표 사전 추가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③ 수치 대조 — 12개 센터 중 3곳이 다르고, 단서가 보인다</a:t>
            </a:r>
            <a:endParaRPr lang="en-US" sz="2800" dirty="0"/>
          </a:p>
        </p:txBody>
      </p:sp>
      <p:sp>
        <p:nvSpPr>
          <p:cNvPr id="3" name="frame-03_수치대조_점검표.png"/>
          <p:cNvSpPr/>
          <p:nvPr/>
        </p:nvSpPr>
        <p:spPr>
          <a:xfrm>
            <a:off x="475488" y="1298448"/>
            <a:ext cx="7095744" cy="4581144"/>
          </a:xfrm>
          <a:prstGeom prst="roundRect">
            <a:avLst>
              <a:gd name="adj" fmla="val 19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hot-03_수치대조_점검표.png" descr="/tmp/claude-0/-home-user-ebsjajucenter/339b2177-8504-5831-abfe-1ed2cf264c84/scratchpad/deck/img/03_수치대조_점검표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434840"/>
          </a:xfrm>
          <a:prstGeom prst="rect">
            <a:avLst/>
          </a:prstGeom>
        </p:spPr>
      </p:pic>
      <p:sp>
        <p:nvSpPr>
          <p:cNvPr id="5" name="cap-03_수치대조_점검표.png"/>
          <p:cNvSpPr txBox="1"/>
          <p:nvPr/>
        </p:nvSpPr>
        <p:spPr>
          <a:xfrm>
            <a:off x="548640" y="5916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캡처(규칙 경로, 2026-10-04)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7863840" y="137160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새 집계값(9월 재산출) vs 과거 제출값(7월 제출본)을 코드로 대조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센터C·G·K 차이, 단서: 추출시점·원자료 버전 변경(v1 → v2 사후 보정)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차이 사유는 담당자가 입력. AI는 추정하지 않음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정합성 점검표에 과거·신규 출처(파일명·행 번호) 기록, 개인정보 패턴 검사 후 확정</a:t>
            </a:r>
            <a:endParaRPr lang="en-US" sz="1250" dirty="0"/>
          </a:p>
        </p:txBody>
      </p:sp>
      <p:sp>
        <p:nvSpPr>
          <p:cNvPr id="7" name="tbl-title-차이 3건(값은 가상)"/>
          <p:cNvSpPr txBox="1"/>
          <p:nvPr/>
        </p:nvSpPr>
        <p:spPr>
          <a:xfrm>
            <a:off x="786384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차이 3건(값은 가상)</a:t>
            </a:r>
            <a:endParaRPr lang="en-US" sz="1100" dirty="0"/>
          </a:p>
        </p:txBody>
      </p:sp>
      <p:graphicFrame>
        <p:nvGraphicFramePr>
          <p:cNvPr id="10" name="tbl-차이 3건(값은 가상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4389120"/>
          <a:ext cx="37947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502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센터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과거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신규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차이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단서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센터C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66.4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67.8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+1.4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추출시점·원자료 버전 변경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센터G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78.6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80.0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+1.4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추출시점·원자료 버전 변경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센터K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57.2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59.3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+2.1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추출시점·원자료 버전 변경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④ 회신 초안 — 확정 수치·입력 사유만 쓰고, 빠진 건 [확인 필요]</a:t>
            </a:r>
            <a:endParaRPr lang="en-US" sz="2800" dirty="0"/>
          </a:p>
        </p:txBody>
      </p:sp>
      <p:sp>
        <p:nvSpPr>
          <p:cNvPr id="3" name="frame-04_회신초안_HWPX.png"/>
          <p:cNvSpPr/>
          <p:nvPr/>
        </p:nvSpPr>
        <p:spPr>
          <a:xfrm>
            <a:off x="475488" y="1298448"/>
            <a:ext cx="7095744" cy="4581144"/>
          </a:xfrm>
          <a:prstGeom prst="roundRect">
            <a:avLst>
              <a:gd name="adj" fmla="val 19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hot-04_회신초안_HWPX.png" descr="/tmp/claude-0/-home-user-ebsjajucenter/339b2177-8504-5831-abfe-1ed2cf264c84/scratchpad/deck/img/04_회신초안_HW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434840"/>
          </a:xfrm>
          <a:prstGeom prst="rect">
            <a:avLst/>
          </a:prstGeom>
        </p:spPr>
      </p:pic>
      <p:sp>
        <p:nvSpPr>
          <p:cNvPr id="5" name="cap-04_회신초안_HWPX.png"/>
          <p:cNvSpPr txBox="1"/>
          <p:nvPr/>
        </p:nvSpPr>
        <p:spPr>
          <a:xfrm>
            <a:off x="548640" y="5916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화면 캡처(규칙 경로, 2026-10-04)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7863840" y="137160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요구 항목 순서대로 번호 문단, 차이 사유·산출 근거 자동 구성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충족 검사: 등원율 충족 1건, 확정 수치가 없는 3건은 '[확인 필요] 표시'로 분리 집계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Claude 추가 점검(키 있을 때): 누락·기준일 불일치·표에 없는 숫자·단정 표현 지적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초안 개인정보 검사 → HWPX(표 12행 자동 확장) → 제출 묶음 ZIP → 팀장 검토 요청</a:t>
            </a:r>
            <a:endParaRPr lang="en-US" sz="1250" dirty="0"/>
          </a:p>
        </p:txBody>
      </p:sp>
      <p:sp>
        <p:nvSpPr>
          <p:cNvPr id="7" name="tbl-title-요구 항목 충족 검사(코드)"/>
          <p:cNvSpPr txBox="1"/>
          <p:nvPr/>
        </p:nvSpPr>
        <p:spPr>
          <a:xfrm>
            <a:off x="786384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요구 항목 충족 검사(코드)</a:t>
            </a:r>
            <a:endParaRPr lang="en-US" sz="1100" dirty="0"/>
          </a:p>
        </p:txBody>
      </p:sp>
      <p:graphicFrame>
        <p:nvGraphicFramePr>
          <p:cNvPr id="11" name="tbl-요구 항목 충족 검사(코드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4389120"/>
          <a:ext cx="37947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68680"/>
                <a:gridCol w="59436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요구 항목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확정 수치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6/30 기준 센터별 등원율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등원율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있음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충족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6/30 기준 센터별 등록 학생 수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등록 학생 수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없음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미확인 표시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최근 3년 운영 예산 및 집행률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운영 예산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없음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미확인 표시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최근 3년 운영 예산 및 집행률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예산 집행률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없음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A41"/>
                          </a:solidFill>
                        </a:rPr>
                        <a:t>미확인 표시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⑤ 승인 → ⑥ 이력 → ⑦ 현황: 한 줄로 이어지는 기록</a:t>
            </a:r>
            <a:endParaRPr lang="en-US" sz="2800" dirty="0"/>
          </a:p>
        </p:txBody>
      </p:sp>
      <p:sp>
        <p:nvSpPr>
          <p:cNvPr id="3" name="frame-05_검토승인.png"/>
          <p:cNvSpPr/>
          <p:nvPr/>
        </p:nvSpPr>
        <p:spPr>
          <a:xfrm>
            <a:off x="475488" y="1344168"/>
            <a:ext cx="3758184" cy="3386869"/>
          </a:xfrm>
          <a:prstGeom prst="roundRect">
            <a:avLst>
              <a:gd name="adj" fmla="val 27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hot-05_검토승인.png" descr="/tmp/claude-0/-home-user-ebsjajucenter/339b2177-8504-5831-abfe-1ed2cf264c84/scratchpad/deck/img/05_검토승인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611880" cy="3240565"/>
          </a:xfrm>
          <a:prstGeom prst="rect">
            <a:avLst/>
          </a:prstGeom>
        </p:spPr>
      </p:pic>
      <p:sp>
        <p:nvSpPr>
          <p:cNvPr id="5" name="cap-05_검토승인.png"/>
          <p:cNvSpPr txBox="1"/>
          <p:nvPr/>
        </p:nvSpPr>
        <p:spPr>
          <a:xfrm>
            <a:off x="548640" y="4767613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⑤ 팀장 검토·승인(의견 기록)</a:t>
            </a:r>
            <a:endParaRPr lang="en-US" sz="1000" dirty="0"/>
          </a:p>
        </p:txBody>
      </p:sp>
      <p:sp>
        <p:nvSpPr>
          <p:cNvPr id="6" name="frame-06_이력조회.png"/>
          <p:cNvSpPr/>
          <p:nvPr/>
        </p:nvSpPr>
        <p:spPr>
          <a:xfrm>
            <a:off x="4224528" y="1344168"/>
            <a:ext cx="3758184" cy="2576728"/>
          </a:xfrm>
          <a:prstGeom prst="roundRect">
            <a:avLst>
              <a:gd name="adj" fmla="val 35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shot-06_이력조회.png" descr="/tmp/claude-0/-home-user-ebsjajucenter/339b2177-8504-5831-abfe-1ed2cf264c84/scratchpad/deck/img/06_이력조회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417320"/>
            <a:ext cx="3611880" cy="2430424"/>
          </a:xfrm>
          <a:prstGeom prst="rect">
            <a:avLst/>
          </a:prstGeom>
        </p:spPr>
      </p:pic>
      <p:sp>
        <p:nvSpPr>
          <p:cNvPr id="8" name="cap-06_이력조회.png"/>
          <p:cNvSpPr txBox="1"/>
          <p:nvPr/>
        </p:nvSpPr>
        <p:spPr>
          <a:xfrm>
            <a:off x="4297680" y="3957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⑥ 요구→항목→제출본→초안→승인</a:t>
            </a:r>
            <a:endParaRPr lang="en-US" sz="1000" dirty="0"/>
          </a:p>
        </p:txBody>
      </p:sp>
      <p:sp>
        <p:nvSpPr>
          <p:cNvPr id="9" name="frame-07_현황통계.png"/>
          <p:cNvSpPr/>
          <p:nvPr/>
        </p:nvSpPr>
        <p:spPr>
          <a:xfrm>
            <a:off x="7973568" y="1344168"/>
            <a:ext cx="3758184" cy="3116822"/>
          </a:xfrm>
          <a:prstGeom prst="roundRect">
            <a:avLst>
              <a:gd name="adj" fmla="val 2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shot-07_현황통계.png" descr="/tmp/claude-0/-home-user-ebsjajucenter/339b2177-8504-5831-abfe-1ed2cf264c84/scratchpad/deck/img/07_현황통계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417320"/>
            <a:ext cx="3611880" cy="2970518"/>
          </a:xfrm>
          <a:prstGeom prst="rect">
            <a:avLst/>
          </a:prstGeom>
        </p:spPr>
      </p:pic>
      <p:sp>
        <p:nvSpPr>
          <p:cNvPr id="11" name="cap-07_현황통계.png"/>
          <p:cNvSpPr txBox="1"/>
          <p:nvPr/>
        </p:nvSpPr>
        <p:spPr>
          <a:xfrm>
            <a:off x="8046720" y="449756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⑦ D-day·기한 임박·반복 요구 지표</a:t>
            </a:r>
            <a:endParaRPr lang="en-US" sz="1000" dirty="0"/>
          </a:p>
        </p:txBody>
      </p:sp>
      <p:sp>
        <p:nvSpPr>
          <p:cNvPr id="12" name="wrap-note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반복 요구 지표(등원율 2회·요청 주체 2곳)는 사전 산출·표준 답변 후보가 됩니다. 관리대장은 엑셀로 내보냅니다.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구조 — PC 한 대에서 끝나고, API는 선택</a:t>
            </a:r>
            <a:endParaRPr lang="en-US" sz="2800" dirty="0"/>
          </a:p>
        </p:txBody>
      </p:sp>
      <p:sp>
        <p:nvSpPr>
          <p:cNvPr id="3" name="arch-pc"/>
          <p:cNvSpPr/>
          <p:nvPr/>
        </p:nvSpPr>
        <p:spPr>
          <a:xfrm>
            <a:off x="548640" y="1371600"/>
            <a:ext cx="7680960" cy="4754880"/>
          </a:xfrm>
          <a:prstGeom prst="roundRect">
            <a:avLst>
              <a:gd name="adj" fmla="val 2885"/>
            </a:avLst>
          </a:prstGeom>
          <a:solidFill>
            <a:schemeClr val="bg1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4" name="arch-pc-title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담당자 PC (Windows) — run.bat 한 번</a:t>
            </a:r>
            <a:endParaRPr lang="en-US" sz="1300" dirty="0"/>
          </a:p>
        </p:txBody>
      </p:sp>
      <p:sp>
        <p:nvSpPr>
          <p:cNvPr id="5" name="arch-화면 (Streamlit)"/>
          <p:cNvSpPr/>
          <p:nvPr/>
        </p:nvSpPr>
        <p:spPr>
          <a:xfrm>
            <a:off x="731520" y="1920240"/>
            <a:ext cx="22860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arch-t-화면 (Streamlit)"/>
          <p:cNvSpPr txBox="1"/>
          <p:nvPr/>
        </p:nvSpPr>
        <p:spPr>
          <a:xfrm>
            <a:off x="8686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화면 (Streamlit)</a:t>
            </a:r>
            <a:endParaRPr lang="en-US" sz="1300" dirty="0"/>
          </a:p>
        </p:txBody>
      </p:sp>
      <p:sp>
        <p:nvSpPr>
          <p:cNvPr id="7" name="arch-b-화면 (Streamlit)"/>
          <p:cNvSpPr txBox="1"/>
          <p:nvPr/>
        </p:nvSpPr>
        <p:spPr>
          <a:xfrm>
            <a:off x="86868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7개 화면 +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브라우저 로컬 실행</a:t>
            </a:r>
            <a:endParaRPr lang="en-US" sz="1050" dirty="0"/>
          </a:p>
        </p:txBody>
      </p:sp>
      <p:sp>
        <p:nvSpPr>
          <p:cNvPr id="8" name="arch-추출·정규화"/>
          <p:cNvSpPr/>
          <p:nvPr/>
        </p:nvSpPr>
        <p:spPr>
          <a:xfrm>
            <a:off x="3200400" y="1920240"/>
            <a:ext cx="22860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rch-t-추출·정규화"/>
          <p:cNvSpPr txBox="1"/>
          <p:nvPr/>
        </p:nvSpPr>
        <p:spPr>
          <a:xfrm>
            <a:off x="33375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추출·정규화</a:t>
            </a:r>
            <a:endParaRPr lang="en-US" sz="1300" dirty="0"/>
          </a:p>
        </p:txBody>
      </p:sp>
      <p:sp>
        <p:nvSpPr>
          <p:cNvPr id="10" name="arch-b-추출·정규화"/>
          <p:cNvSpPr txBox="1"/>
          <p:nvPr/>
        </p:nvSpPr>
        <p:spPr>
          <a:xfrm>
            <a:off x="333756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extract · normalize(지표 사전)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docread(txt·HWPX·PDF·DOCX)</a:t>
            </a:r>
            <a:endParaRPr lang="en-US" sz="1050" dirty="0"/>
          </a:p>
        </p:txBody>
      </p:sp>
      <p:sp>
        <p:nvSpPr>
          <p:cNvPr id="11" name="arch-검색·제안"/>
          <p:cNvSpPr/>
          <p:nvPr/>
        </p:nvSpPr>
        <p:spPr>
          <a:xfrm>
            <a:off x="5669280" y="192024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rch-t-검색·제안"/>
          <p:cNvSpPr txBox="1"/>
          <p:nvPr/>
        </p:nvSpPr>
        <p:spPr>
          <a:xfrm>
            <a:off x="58064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검색·제안</a:t>
            </a:r>
            <a:endParaRPr lang="en-US" sz="1300" dirty="0"/>
          </a:p>
        </p:txBody>
      </p:sp>
      <p:sp>
        <p:nvSpPr>
          <p:cNvPr id="13" name="arch-b-검색·제안"/>
          <p:cNvSpPr txBox="1"/>
          <p:nvPr/>
        </p:nvSpPr>
        <p:spPr>
          <a:xfrm>
            <a:off x="580644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search(문자 n-gram, 외부 API 없음)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suggest(데이터 카탈로그)</a:t>
            </a:r>
            <a:endParaRPr lang="en-US" sz="1050" dirty="0"/>
          </a:p>
        </p:txBody>
      </p:sp>
      <p:sp>
        <p:nvSpPr>
          <p:cNvPr id="14" name="arch-대조·점검 (코드)"/>
          <p:cNvSpPr/>
          <p:nvPr/>
        </p:nvSpPr>
        <p:spPr>
          <a:xfrm>
            <a:off x="731520" y="3474720"/>
            <a:ext cx="22860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rch-t-대조·점검 (코드)"/>
          <p:cNvSpPr txBox="1"/>
          <p:nvPr/>
        </p:nvSpPr>
        <p:spPr>
          <a:xfrm>
            <a:off x="86868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대조·점검 (코드)</a:t>
            </a:r>
            <a:endParaRPr lang="en-US" sz="1300" dirty="0"/>
          </a:p>
        </p:txBody>
      </p:sp>
      <p:sp>
        <p:nvSpPr>
          <p:cNvPr id="16" name="arch-b-대조·점검 (코드)"/>
          <p:cNvSpPr txBox="1"/>
          <p:nvPr/>
        </p:nvSpPr>
        <p:spPr>
          <a:xfrm>
            <a:off x="868680" y="3931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compare(pandas) · pii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차이·단서·점검표·출처</a:t>
            </a:r>
            <a:endParaRPr lang="en-US" sz="1050" dirty="0"/>
          </a:p>
        </p:txBody>
      </p:sp>
      <p:sp>
        <p:nvSpPr>
          <p:cNvPr id="17" name="arch-초안·출력"/>
          <p:cNvSpPr/>
          <p:nvPr/>
        </p:nvSpPr>
        <p:spPr>
          <a:xfrm>
            <a:off x="3200400" y="3474720"/>
            <a:ext cx="22860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rch-t-초안·출력"/>
          <p:cNvSpPr txBox="1"/>
          <p:nvPr/>
        </p:nvSpPr>
        <p:spPr>
          <a:xfrm>
            <a:off x="333756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초안·출력</a:t>
            </a:r>
            <a:endParaRPr lang="en-US" sz="1300" dirty="0"/>
          </a:p>
        </p:txBody>
      </p:sp>
      <p:sp>
        <p:nvSpPr>
          <p:cNvPr id="19" name="arch-b-초안·출력"/>
          <p:cNvSpPr txBox="1"/>
          <p:nvPr/>
        </p:nvSpPr>
        <p:spPr>
          <a:xfrm>
            <a:off x="3337560" y="3931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draft(초안·충족 검사)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hwpx_out(치환·행 복제)</a:t>
            </a:r>
            <a:endParaRPr lang="en-US" sz="1050" dirty="0"/>
          </a:p>
        </p:txBody>
      </p:sp>
      <p:sp>
        <p:nvSpPr>
          <p:cNvPr id="20" name="arch-이력 DB (SQLite 1파일)"/>
          <p:cNvSpPr/>
          <p:nvPr/>
        </p:nvSpPr>
        <p:spPr>
          <a:xfrm>
            <a:off x="5669280" y="347472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rch-t-이력 DB (SQLite 1파일)"/>
          <p:cNvSpPr txBox="1"/>
          <p:nvPr/>
        </p:nvSpPr>
        <p:spPr>
          <a:xfrm>
            <a:off x="580644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이력 DB (SQLite 1파일)</a:t>
            </a:r>
            <a:endParaRPr lang="en-US" sz="1300" dirty="0"/>
          </a:p>
        </p:txBody>
      </p:sp>
      <p:sp>
        <p:nvSpPr>
          <p:cNvPr id="22" name="arch-b-이력 DB (SQLite 1파일)"/>
          <p:cNvSpPr txBox="1"/>
          <p:nvPr/>
        </p:nvSpPr>
        <p:spPr>
          <a:xfrm>
            <a:off x="5806440" y="3931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requests · items · submissions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submission_values(출처) · diff_reasons · drafts · reviews</a:t>
            </a:r>
            <a:endParaRPr lang="en-US" sz="1050" dirty="0"/>
          </a:p>
        </p:txBody>
      </p:sp>
      <p:sp>
        <p:nvSpPr>
          <p:cNvPr id="23" name="arch-점검 도구"/>
          <p:cNvSpPr/>
          <p:nvPr/>
        </p:nvSpPr>
        <p:spPr>
          <a:xfrm>
            <a:off x="731520" y="5029200"/>
            <a:ext cx="7315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rch-t-점검 도구"/>
          <p:cNvSpPr txBox="1"/>
          <p:nvPr/>
        </p:nvSpPr>
        <p:spPr>
          <a:xfrm>
            <a:off x="868680" y="5120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점검 도구</a:t>
            </a:r>
            <a:endParaRPr lang="en-US" sz="1300" dirty="0"/>
          </a:p>
        </p:txBody>
      </p:sp>
      <p:sp>
        <p:nvSpPr>
          <p:cNvPr id="25" name="arch-b-점검 도구"/>
          <p:cNvSpPr txBox="1"/>
          <p:nvPr/>
        </p:nvSpPr>
        <p:spPr>
          <a:xfrm>
            <a:off x="868680" y="54864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run_checks.py: ruff → pytest 38건 → 추출 품질 점검(규칙/Claude) → 6단계 화면 흐름  ·  make_submission_zip.py  ·  capture_screens.py</a:t>
            </a:r>
            <a:endParaRPr lang="en-US" sz="1050" dirty="0"/>
          </a:p>
        </p:txBody>
      </p:sp>
      <p:sp>
        <p:nvSpPr>
          <p:cNvPr id="26" name="arch-Claude API (선택)"/>
          <p:cNvSpPr/>
          <p:nvPr/>
        </p:nvSpPr>
        <p:spPr>
          <a:xfrm>
            <a:off x="8503920" y="1371600"/>
            <a:ext cx="3154680" cy="2103120"/>
          </a:xfrm>
          <a:prstGeom prst="roundRect">
            <a:avLst>
              <a:gd name="adj" fmla="val 43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arch-t-Claude API (선택)"/>
          <p:cNvSpPr txBox="1"/>
          <p:nvPr/>
        </p:nvSpPr>
        <p:spPr>
          <a:xfrm>
            <a:off x="8641080" y="1463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Claude API (선택)</a:t>
            </a:r>
            <a:endParaRPr lang="en-US" sz="1300" dirty="0"/>
          </a:p>
        </p:txBody>
      </p:sp>
      <p:sp>
        <p:nvSpPr>
          <p:cNvPr id="28" name="arch-b-Claude API (선택)"/>
          <p:cNvSpPr txBox="1"/>
          <p:nvPr/>
        </p:nvSpPr>
        <p:spPr>
          <a:xfrm>
            <a:off x="8641080" y="18288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llm.py 공통 호출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· 모델 자동 대체(404 → 다음 후보)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· 구조화 출력(JSON 스키마) + 미지원 시 텍스트 파싱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· 429·5xx 자동 재시도, 타임아웃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· 호출별 모델·지연·토큰·추정 비용 기록</a:t>
            </a:r>
            <a:endParaRPr lang="en-US" sz="1050" dirty="0"/>
          </a:p>
        </p:txBody>
      </p:sp>
      <p:sp>
        <p:nvSpPr>
          <p:cNvPr id="29" name="arch-밖으로 나가는 것"/>
          <p:cNvSpPr/>
          <p:nvPr/>
        </p:nvSpPr>
        <p:spPr>
          <a:xfrm>
            <a:off x="8503920" y="3657600"/>
            <a:ext cx="3154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arch-t-밖으로 나가는 것"/>
          <p:cNvSpPr txBox="1"/>
          <p:nvPr/>
        </p:nvSpPr>
        <p:spPr>
          <a:xfrm>
            <a:off x="8641080" y="3749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밖으로 나가는 것</a:t>
            </a:r>
            <a:endParaRPr lang="en-US" sz="1300" dirty="0"/>
          </a:p>
        </p:txBody>
      </p:sp>
      <p:sp>
        <p:nvSpPr>
          <p:cNvPr id="31" name="arch-b-밖으로 나가는 것"/>
          <p:cNvSpPr txBox="1"/>
          <p:nvPr/>
        </p:nvSpPr>
        <p:spPr>
          <a:xfrm>
            <a:off x="8641080" y="4114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요구서 문안 · 센터 단위 확정 집계값 · 담당자 입력 사유 · 산출 근거 메타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(개인 단위 원자료는 전달하지 않음)</a:t>
            </a:r>
            <a:endParaRPr lang="en-US" sz="1050" dirty="0"/>
          </a:p>
        </p:txBody>
      </p:sp>
      <p:sp>
        <p:nvSpPr>
          <p:cNvPr id="32" name="arch-키가 없으면"/>
          <p:cNvSpPr/>
          <p:nvPr/>
        </p:nvSpPr>
        <p:spPr>
          <a:xfrm>
            <a:off x="8503920" y="5212080"/>
            <a:ext cx="31546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arch-t-키가 없으면"/>
          <p:cNvSpPr txBox="1"/>
          <p:nvPr/>
        </p:nvSpPr>
        <p:spPr>
          <a:xfrm>
            <a:off x="8641080" y="5303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키가 없으면</a:t>
            </a:r>
            <a:endParaRPr lang="en-US" sz="1300" dirty="0"/>
          </a:p>
        </p:txBody>
      </p:sp>
      <p:sp>
        <p:nvSpPr>
          <p:cNvPr id="34" name="arch-b-키가 없으면"/>
          <p:cNvSpPr txBox="1"/>
          <p:nvPr/>
        </p:nvSpPr>
        <p:spPr>
          <a:xfrm>
            <a:off x="8641080" y="5669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규칙 기반으로 전 기능 동작(추출은 정형 서식 한정)</a:t>
            </a:r>
            <a:endParaRPr lang="en-US" sz="1050" dirty="0"/>
          </a:p>
        </p:txBody>
      </p:sp>
      <p:sp>
        <p:nvSpPr>
          <p:cNvPr id="35" name="arch-link"/>
          <p:cNvSpPr/>
          <p:nvPr/>
        </p:nvSpPr>
        <p:spPr>
          <a:xfrm>
            <a:off x="8229600" y="2423160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검증 결과 — 실측치</a:t>
            </a:r>
            <a:endParaRPr lang="en-US" sz="2800" dirty="0"/>
          </a:p>
        </p:txBody>
      </p:sp>
      <p:sp>
        <p:nvSpPr>
          <p:cNvPr id="3" name="stat-요구서 추출 필수 쌍 재현 Claude 경로 · 9사례 · 초과·오탐 0 (2026-09-28, claude-sonnet-4-6)"/>
          <p:cNvSpPr txBox="1"/>
          <p:nvPr/>
        </p:nvSpPr>
        <p:spPr>
          <a:xfrm>
            <a:off x="54864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25 / 25</a:t>
            </a:r>
            <a:endParaRPr lang="en-US" sz="4000" dirty="0"/>
          </a:p>
        </p:txBody>
      </p:sp>
      <p:sp>
        <p:nvSpPr>
          <p:cNvPr id="4" name="stat-label-요구서 추출 필수 쌍 재현 Claude 경로 · 9사례 · 초과·오탐 0 (2026-09-28, claude-sonnet-4-6)"/>
          <p:cNvSpPr txBox="1"/>
          <p:nvPr/>
        </p:nvSpPr>
        <p:spPr>
          <a:xfrm>
            <a:off x="54864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요구서 추출 필수 쌍 재현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경로 · 9사례 · 초과·오탐 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(2026-09-28, claude-sonnet-4-6)</a:t>
            </a:r>
            <a:endParaRPr lang="en-US" sz="1200" dirty="0"/>
          </a:p>
        </p:txBody>
      </p:sp>
      <p:sp>
        <p:nvSpPr>
          <p:cNvPr id="5" name="stat-요구서 1건 추출 평균 지연 (9건, 입력 10,872 · 출력 2,711 토큰)"/>
          <p:cNvSpPr txBox="1"/>
          <p:nvPr/>
        </p:nvSpPr>
        <p:spPr>
          <a:xfrm>
            <a:off x="338328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3.8초</a:t>
            </a:r>
            <a:endParaRPr lang="en-US" sz="4000" dirty="0"/>
          </a:p>
        </p:txBody>
      </p:sp>
      <p:sp>
        <p:nvSpPr>
          <p:cNvPr id="6" name="stat-label-요구서 1건 추출 평균 지연 (9건, 입력 10,872 · 출력 2,711 토큰)"/>
          <p:cNvSpPr txBox="1"/>
          <p:nvPr/>
        </p:nvSpPr>
        <p:spPr>
          <a:xfrm>
            <a:off x="338328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요구서 1건 추출 평균 지연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(9건, 입력 10,872 · 출력 2,711 토큰)</a:t>
            </a:r>
            <a:endParaRPr lang="en-US" sz="1200" dirty="0"/>
          </a:p>
        </p:txBody>
      </p:sp>
      <p:sp>
        <p:nvSpPr>
          <p:cNvPr id="7" name="stat-pytest 단위 테스트 통과 (추출·대조·개인정보·HWPX·초안·LLM·DB)"/>
          <p:cNvSpPr txBox="1"/>
          <p:nvPr/>
        </p:nvSpPr>
        <p:spPr>
          <a:xfrm>
            <a:off x="62179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38</a:t>
            </a:r>
            <a:endParaRPr lang="en-US" sz="4000" dirty="0"/>
          </a:p>
        </p:txBody>
      </p:sp>
      <p:sp>
        <p:nvSpPr>
          <p:cNvPr id="8" name="stat-label-pytest 단위 테스트 통과 (추출·대조·개인정보·HWPX·초안·LLM·DB)"/>
          <p:cNvSpPr txBox="1"/>
          <p:nvPr/>
        </p:nvSpPr>
        <p:spPr>
          <a:xfrm>
            <a:off x="621792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pytest 단위 테스트 통과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(추출·대조·개인정보·HWPX·초안·LLM·DB)</a:t>
            </a:r>
            <a:endParaRPr lang="en-US" sz="1200" dirty="0"/>
          </a:p>
        </p:txBody>
      </p:sp>
      <p:sp>
        <p:nvSpPr>
          <p:cNvPr id="9" name="stat-화면 6단계 흐름 구동 AppTest + 실제 브라우저, 오류 0"/>
          <p:cNvSpPr txBox="1"/>
          <p:nvPr/>
        </p:nvSpPr>
        <p:spPr>
          <a:xfrm>
            <a:off x="905256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 / 8</a:t>
            </a:r>
            <a:endParaRPr lang="en-US" sz="4000" dirty="0"/>
          </a:p>
        </p:txBody>
      </p:sp>
      <p:sp>
        <p:nvSpPr>
          <p:cNvPr id="10" name="stat-label-화면 6단계 흐름 구동 AppTest + 실제 브라우저, 오류 0"/>
          <p:cNvSpPr txBox="1"/>
          <p:nvPr/>
        </p:nvSpPr>
        <p:spPr>
          <a:xfrm>
            <a:off x="905256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화면 6단계 흐름 구동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AppTest + 실제 브라우저, 오류 0</a:t>
            </a:r>
            <a:endParaRPr lang="en-US" sz="1200" dirty="0"/>
          </a:p>
        </p:txBody>
      </p:sp>
      <p:graphicFrame>
        <p:nvGraphicFramePr>
          <p:cNvPr id="14" name="verif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추출 품질(규칙 경로)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9사례 25/25, 초과·오탐 0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규칙을 사례에 맞춰 조정했으므로 참고치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추출 품질(Claude 경로)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1차 24/25 → 연도 보완 규칙 후 2차 25/25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실전형 5건 포함(국감 표 형식·감사 공문체·메일체·설명형·사전 밖 지표)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초안 원칙 준수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평균·증감 계산 없음, 12개 센터 값 표와 일치, 없는 항목 [확인 필요]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2026-09-28 육안 확인, 초안·추가 점검 각 약 8초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HWPX 출력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12행 표 확장, XML 정형성, 자리표시자 잔존 0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한글에서 타이핑해 run이 쪼개진 자리표시자도 치환(10-04 보강)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입력 견고성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cp949 CSV, '2026. 6. 30.', '67.8%', '1,234', 빈 행, 다중 시트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</a:rPr>
                        <a:t>오류는 행 번호·허용 컬럼명과 함께 표시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보안과 비용</a:t>
            </a:r>
            <a:endParaRPr lang="en-US" sz="2800" dirty="0"/>
          </a:p>
        </p:txBody>
      </p:sp>
      <p:sp>
        <p:nvSpPr>
          <p:cNvPr id="3" name="card-보안 설계"/>
          <p:cNvSpPr/>
          <p:nvPr/>
        </p:nvSpPr>
        <p:spPr>
          <a:xfrm>
            <a:off x="54864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title-보안 설계"/>
          <p:cNvSpPr txBox="1"/>
          <p:nvPr/>
        </p:nvSpPr>
        <p:spPr>
          <a:xfrm>
            <a:off x="77724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보안 설계</a:t>
            </a:r>
            <a:endParaRPr lang="en-US" sz="1700" dirty="0"/>
          </a:p>
        </p:txBody>
      </p:sp>
      <p:sp>
        <p:nvSpPr>
          <p:cNvPr id="5" name="bullets"/>
          <p:cNvSpPr txBox="1"/>
          <p:nvPr/>
        </p:nvSpPr>
        <p:spPr>
          <a:xfrm>
            <a:off x="777240" y="201168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API 키는 환경변수 또는 설정 화면 세션 한정 입력 — 파일에 저장하지 않음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이력 DB는 PC 로컬 SQLite. 외부로는 요구서 문안·센터 단위 확정값·입력 사유·근거 메타만 전송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개인 단위 원자료(출결 명단)는 올리지 않음. ③ 집계값·④ 초안에서 개인정보 패턴 검사(주민번호·전화·이메일·학생 식별어)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국정원 생성형 AI 보안 가이드라인의 '비공개·개인정보 입력 금지, 생성물 재검증' 원칙과 정렬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API가 막힌 망에서도 규칙 경로로 전 기능 동작</a:t>
            </a:r>
            <a:endParaRPr lang="en-US" sz="1250" dirty="0"/>
          </a:p>
        </p:txBody>
      </p:sp>
      <p:sp>
        <p:nvSpPr>
          <p:cNvPr id="6" name="card-비용 (추정)"/>
          <p:cNvSpPr/>
          <p:nvPr/>
        </p:nvSpPr>
        <p:spPr>
          <a:xfrm>
            <a:off x="617220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title-비용 (추정)"/>
          <p:cNvSpPr txBox="1"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비용 (추정)</a:t>
            </a:r>
            <a:endParaRPr lang="en-US" sz="1700" dirty="0"/>
          </a:p>
        </p:txBody>
      </p:sp>
      <p:sp>
        <p:nvSpPr>
          <p:cNvPr id="8" name="stat-요구서 1건 추출 (입력 1.2k · 출력 0.3k 토큰)"/>
          <p:cNvSpPr txBox="1"/>
          <p:nvPr/>
        </p:nvSpPr>
        <p:spPr>
          <a:xfrm>
            <a:off x="640080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 $0.008</a:t>
            </a:r>
            <a:endParaRPr lang="en-US" sz="3000" dirty="0"/>
          </a:p>
        </p:txBody>
      </p:sp>
      <p:sp>
        <p:nvSpPr>
          <p:cNvPr id="9" name="stat-label-요구서 1건 추출 (입력 1.2k · 출력 0.3k 토큰)"/>
          <p:cNvSpPr txBox="1"/>
          <p:nvPr/>
        </p:nvSpPr>
        <p:spPr>
          <a:xfrm>
            <a:off x="640080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요구서 1건 추출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(입력 1.2k · 출력 0.3k 토큰)</a:t>
            </a:r>
            <a:endParaRPr lang="en-US" sz="1200" dirty="0"/>
          </a:p>
        </p:txBody>
      </p:sp>
      <p:sp>
        <p:nvSpPr>
          <p:cNvPr id="10" name="stat-시연 1회(호출 약 20회, 입력 3만 · 출력 8천 토큰)"/>
          <p:cNvSpPr txBox="1"/>
          <p:nvPr/>
        </p:nvSpPr>
        <p:spPr>
          <a:xfrm>
            <a:off x="905256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 $0.21</a:t>
            </a:r>
            <a:endParaRPr lang="en-US" sz="3000" dirty="0"/>
          </a:p>
        </p:txBody>
      </p:sp>
      <p:sp>
        <p:nvSpPr>
          <p:cNvPr id="11" name="stat-label-시연 1회(호출 약 20회, 입력 3만 · 출력 8천 토큰)"/>
          <p:cNvSpPr txBox="1"/>
          <p:nvPr/>
        </p:nvSpPr>
        <p:spPr>
          <a:xfrm>
            <a:off x="90525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시연 1회(호출 약 20회,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입력 3만 · 출력 8천 토큰)</a:t>
            </a:r>
            <a:endParaRPr lang="en-US" sz="1200" dirty="0"/>
          </a:p>
        </p:txBody>
      </p:sp>
      <p:sp>
        <p:nvSpPr>
          <p:cNvPr id="12" name="bullets"/>
          <p:cNvSpPr txBox="1"/>
          <p:nvPr/>
        </p:nvSpPr>
        <p:spPr>
          <a:xfrm>
            <a:off x="6400800" y="374904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단가: claude-sonnet-4-6 입력 $3 · 출력 $15 / 100만 토큰(공개 가격표 2026-09-25 기준)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설정 화면 연결 테스트에서 모델별 단가와 세션 누적 추정 비용을 바로 확인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실제 청구액·월 호출량은 [확인 필요] — 콘솔 Usage 기준으로 확정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한계와 다음 단계</a:t>
            </a:r>
            <a:endParaRPr lang="en-US" sz="2800" dirty="0"/>
          </a:p>
        </p:txBody>
      </p:sp>
      <p:sp>
        <p:nvSpPr>
          <p:cNvPr id="3" name="lim-h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한계</a:t>
            </a:r>
            <a:endParaRPr lang="en-US" sz="1400" dirty="0"/>
          </a:p>
        </p:txBody>
      </p:sp>
      <p:sp>
        <p:nvSpPr>
          <p:cNvPr id="4" name="plan-h"/>
          <p:cNvSpPr txBox="1"/>
          <p:nvPr/>
        </p:nvSpPr>
        <p:spPr>
          <a:xfrm>
            <a:off x="61264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다음 단계</a:t>
            </a:r>
            <a:endParaRPr lang="en-US" sz="1400" dirty="0"/>
          </a:p>
        </p:txBody>
      </p:sp>
      <p:sp>
        <p:nvSpPr>
          <p:cNvPr id="5" name="lim-0"/>
          <p:cNvSpPr/>
          <p:nvPr/>
        </p:nvSpPr>
        <p:spPr>
          <a:xfrm>
            <a:off x="548640" y="1783080"/>
            <a:ext cx="51206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m-t-0"/>
          <p:cNvSpPr txBox="1"/>
          <p:nvPr/>
        </p:nvSpPr>
        <p:spPr>
          <a:xfrm>
            <a:off x="731520" y="178308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규칙 경로는 정형 서식에 의존</a:t>
            </a:r>
            <a:endParaRPr lang="en-US" sz="1200" dirty="0"/>
          </a:p>
        </p:txBody>
      </p:sp>
      <p:sp>
        <p:nvSpPr>
          <p:cNvPr id="7" name="lim-arrow-0"/>
          <p:cNvSpPr/>
          <p:nvPr/>
        </p:nvSpPr>
        <p:spPr>
          <a:xfrm>
            <a:off x="5760720" y="1975104"/>
            <a:ext cx="27432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plan-0"/>
          <p:cNvSpPr/>
          <p:nvPr/>
        </p:nvSpPr>
        <p:spPr>
          <a:xfrm>
            <a:off x="6126480" y="1783080"/>
            <a:ext cx="54864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lan-t-0"/>
          <p:cNvSpPr txBox="1"/>
          <p:nvPr/>
        </p:nvSpPr>
        <p:spPr>
          <a:xfrm>
            <a:off x="6309360" y="17830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실제 운영은 Claude 경로. 실제 요구서를 점검 사례에 추가해 재채점</a:t>
            </a:r>
            <a:endParaRPr lang="en-US" sz="1200" dirty="0"/>
          </a:p>
        </p:txBody>
      </p:sp>
      <p:sp>
        <p:nvSpPr>
          <p:cNvPr id="10" name="lim-1"/>
          <p:cNvSpPr/>
          <p:nvPr/>
        </p:nvSpPr>
        <p:spPr>
          <a:xfrm>
            <a:off x="548640" y="2496312"/>
            <a:ext cx="51206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im-t-1"/>
          <p:cNvSpPr txBox="1"/>
          <p:nvPr/>
        </p:nvSpPr>
        <p:spPr>
          <a:xfrm>
            <a:off x="731520" y="24963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유사 검색은 문자 n-gram(임베딩 아님)</a:t>
            </a:r>
            <a:endParaRPr lang="en-US" sz="1200" dirty="0"/>
          </a:p>
        </p:txBody>
      </p:sp>
      <p:sp>
        <p:nvSpPr>
          <p:cNvPr id="12" name="lim-arrow-1"/>
          <p:cNvSpPr/>
          <p:nvPr/>
        </p:nvSpPr>
        <p:spPr>
          <a:xfrm>
            <a:off x="5760720" y="2688336"/>
            <a:ext cx="27432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lan-1"/>
          <p:cNvSpPr/>
          <p:nvPr/>
        </p:nvSpPr>
        <p:spPr>
          <a:xfrm>
            <a:off x="6126480" y="2496312"/>
            <a:ext cx="54864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lan-t-1"/>
          <p:cNvSpPr txBox="1"/>
          <p:nvPr/>
        </p:nvSpPr>
        <p:spPr>
          <a:xfrm>
            <a:off x="6309360" y="249631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이력이 쌓이면 사내 임베딩 또는 API 임베딩 검토</a:t>
            </a:r>
            <a:endParaRPr lang="en-US" sz="1200" dirty="0"/>
          </a:p>
        </p:txBody>
      </p:sp>
      <p:sp>
        <p:nvSpPr>
          <p:cNvPr id="15" name="lim-2"/>
          <p:cNvSpPr/>
          <p:nvPr/>
        </p:nvSpPr>
        <p:spPr>
          <a:xfrm>
            <a:off x="548640" y="3209544"/>
            <a:ext cx="51206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im-t-2"/>
          <p:cNvSpPr txBox="1"/>
          <p:nvPr/>
        </p:nvSpPr>
        <p:spPr>
          <a:xfrm>
            <a:off x="731520" y="320954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HWP(구형식) 미지원, 자리표시자는 한글에서 삽입</a:t>
            </a:r>
            <a:endParaRPr lang="en-US" sz="1200" dirty="0"/>
          </a:p>
        </p:txBody>
      </p:sp>
      <p:sp>
        <p:nvSpPr>
          <p:cNvPr id="17" name="lim-arrow-2"/>
          <p:cNvSpPr/>
          <p:nvPr/>
        </p:nvSpPr>
        <p:spPr>
          <a:xfrm>
            <a:off x="5760720" y="3401568"/>
            <a:ext cx="27432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lan-2"/>
          <p:cNvSpPr/>
          <p:nvPr/>
        </p:nvSpPr>
        <p:spPr>
          <a:xfrm>
            <a:off x="6126480" y="3209544"/>
            <a:ext cx="54864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lan-t-2"/>
          <p:cNvSpPr txBox="1"/>
          <p:nvPr/>
        </p:nvSpPr>
        <p:spPr>
          <a:xfrm>
            <a:off x="6309360" y="320954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부서 회신 서식 HWPX 1종 템플릿화(2주 내)</a:t>
            </a:r>
            <a:endParaRPr lang="en-US" sz="1200" dirty="0"/>
          </a:p>
        </p:txBody>
      </p:sp>
      <p:sp>
        <p:nvSpPr>
          <p:cNvPr id="20" name="lim-3"/>
          <p:cNvSpPr/>
          <p:nvPr/>
        </p:nvSpPr>
        <p:spPr>
          <a:xfrm>
            <a:off x="548640" y="3922776"/>
            <a:ext cx="51206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im-t-3"/>
          <p:cNvSpPr txBox="1"/>
          <p:nvPr/>
        </p:nvSpPr>
        <p:spPr>
          <a:xfrm>
            <a:off x="731520" y="39227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충족 검사(코드)는 지표명 언급 수준</a:t>
            </a:r>
            <a:endParaRPr lang="en-US" sz="1200" dirty="0"/>
          </a:p>
        </p:txBody>
      </p:sp>
      <p:sp>
        <p:nvSpPr>
          <p:cNvPr id="22" name="lim-arrow-3"/>
          <p:cNvSpPr/>
          <p:nvPr/>
        </p:nvSpPr>
        <p:spPr>
          <a:xfrm>
            <a:off x="5760720" y="4114800"/>
            <a:ext cx="27432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plan-3"/>
          <p:cNvSpPr/>
          <p:nvPr/>
        </p:nvSpPr>
        <p:spPr>
          <a:xfrm>
            <a:off x="6126480" y="3922776"/>
            <a:ext cx="54864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lan-t-3"/>
          <p:cNvSpPr txBox="1"/>
          <p:nvPr/>
        </p:nvSpPr>
        <p:spPr>
          <a:xfrm>
            <a:off x="6309360" y="392277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 추가 점검과 병행, 판정 규칙 보강</a:t>
            </a:r>
            <a:endParaRPr lang="en-US" sz="1200" dirty="0"/>
          </a:p>
        </p:txBody>
      </p:sp>
      <p:sp>
        <p:nvSpPr>
          <p:cNvPr id="25" name="lim-4"/>
          <p:cNvSpPr/>
          <p:nvPr/>
        </p:nvSpPr>
        <p:spPr>
          <a:xfrm>
            <a:off x="548640" y="4636008"/>
            <a:ext cx="51206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lim-t-4"/>
          <p:cNvSpPr txBox="1"/>
          <p:nvPr/>
        </p:nvSpPr>
        <p:spPr>
          <a:xfrm>
            <a:off x="731520" y="463600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샘플 데이터·지표 사전 7개</a:t>
            </a:r>
            <a:endParaRPr lang="en-US" sz="1200" dirty="0"/>
          </a:p>
        </p:txBody>
      </p:sp>
      <p:sp>
        <p:nvSpPr>
          <p:cNvPr id="27" name="lim-arrow-4"/>
          <p:cNvSpPr/>
          <p:nvPr/>
        </p:nvSpPr>
        <p:spPr>
          <a:xfrm>
            <a:off x="5760720" y="4828032"/>
            <a:ext cx="27432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plan-4"/>
          <p:cNvSpPr/>
          <p:nvPr/>
        </p:nvSpPr>
        <p:spPr>
          <a:xfrm>
            <a:off x="6126480" y="4636008"/>
            <a:ext cx="54864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lan-t-4"/>
          <p:cNvSpPr txBox="1"/>
          <p:nvPr/>
        </p:nvSpPr>
        <p:spPr>
          <a:xfrm>
            <a:off x="6309360" y="46360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실데이터 컬럼 맞춤, 지표 사전·데이터 카탈로그 확장</a:t>
            </a:r>
            <a:endParaRPr lang="en-US" sz="1200" dirty="0"/>
          </a:p>
        </p:txBody>
      </p:sp>
      <p:sp>
        <p:nvSpPr>
          <p:cNvPr id="30" name="lim-5"/>
          <p:cNvSpPr/>
          <p:nvPr/>
        </p:nvSpPr>
        <p:spPr>
          <a:xfrm>
            <a:off x="548640" y="5349240"/>
            <a:ext cx="51206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lim-t-5"/>
          <p:cNvSpPr txBox="1"/>
          <p:nvPr/>
        </p:nvSpPr>
        <p:spPr>
          <a:xfrm>
            <a:off x="731520" y="534924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단일 PC·SQLite</a:t>
            </a:r>
            <a:endParaRPr lang="en-US" sz="1200" dirty="0"/>
          </a:p>
        </p:txBody>
      </p:sp>
      <p:sp>
        <p:nvSpPr>
          <p:cNvPr id="32" name="lim-arrow-5"/>
          <p:cNvSpPr/>
          <p:nvPr/>
        </p:nvSpPr>
        <p:spPr>
          <a:xfrm>
            <a:off x="5760720" y="5541264"/>
            <a:ext cx="27432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plan-5"/>
          <p:cNvSpPr/>
          <p:nvPr/>
        </p:nvSpPr>
        <p:spPr>
          <a:xfrm>
            <a:off x="6126480" y="5349240"/>
            <a:ext cx="54864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plan-t-5"/>
          <p:cNvSpPr txBox="1"/>
          <p:nvPr/>
        </p:nvSpPr>
        <p:spPr>
          <a:xfrm>
            <a:off x="6309360" y="53492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부서 공유가 필요하면 공유 폴더 DB 또는 소형 서버 검토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답변을 기억하는 부서, 숫자를 검증하는 절차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요청 사항: 실데이터 1개 지표(등원율) 시범 적용 · 부서 회신 서식 HWPX 1종 · 사내망 API 허용 여부 확인</a:t>
            </a:r>
            <a:endParaRPr lang="en-US" sz="2000" dirty="0"/>
          </a:p>
        </p:txBody>
      </p:sp>
      <p:sp>
        <p:nvSpPr>
          <p:cNvPr id="4" name="todo"/>
          <p:cNvSpPr txBox="1"/>
          <p:nvPr/>
        </p:nvSpPr>
        <p:spPr>
          <a:xfrm>
            <a:off x="731520" y="4754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확인 필요 항목 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운영 모델명 고정 · API 단가·월 호출량 · 사내 PC API 허용 여부 · 라이브러리 라이선스 · EBS 자체 요구자료 건수 · 외부 조사 수치 원문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BS Records Teal">
  <a:themeElements>
    <a:clrScheme name="EBS Records Teal">
      <a:dk1>
        <a:srgbClr val="1B2A41"/>
      </a:dk1>
      <a:lt1>
        <a:srgbClr val="FFFFFF"/>
      </a:lt1>
      <a:dk2>
        <a:srgbClr val="0F5C6E"/>
      </a:dk2>
      <a:lt2>
        <a:srgbClr val="EEF3F4"/>
      </a:lt2>
      <a:accent1>
        <a:srgbClr val="0F5C6E"/>
      </a:accent1>
      <a:accent2>
        <a:srgbClr val="E8A33D"/>
      </a:accent2>
      <a:accent3>
        <a:srgbClr val="2E7D5B"/>
      </a:accent3>
      <a:accent4>
        <a:srgbClr val="C0392B"/>
      </a:accent4>
      <a:accent5>
        <a:srgbClr val="6B7A8F"/>
      </a:accent5>
      <a:accent6>
        <a:srgbClr val="D5E6EA"/>
      </a:accent6>
      <a:hlink>
        <a:srgbClr val="0F5C6E"/>
      </a:hlink>
      <a:folHlink>
        <a:srgbClr val="6B7A8F"/>
      </a:folHlink>
    </a:clrScheme>
    <a:fontScheme name="EBS Records Tea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EBS 대외 요구자료 대응 에이전트</dc:title>
  <dc:subject>PptxGenJS Presentation</dc:subject>
  <dc:creator>EBS 지역교육협력부</dc:creator>
  <cp:lastModifiedBy>EBS 지역교육협력부</cp:lastModifiedBy>
  <cp:revision>1</cp:revision>
  <dcterms:created xsi:type="dcterms:W3CDTF">2026-10-04T12:51:12Z</dcterms:created>
  <dcterms:modified xsi:type="dcterms:W3CDTF">2026-10-04T12:51:12Z</dcterms:modified>
</cp:coreProperties>
</file>