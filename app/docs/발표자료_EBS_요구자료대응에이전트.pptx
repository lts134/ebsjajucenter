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78dcbfc2-c3cc-d460-eaf3-80cd5d9488d3}">
          <p14:sldIdLst>
            <p14:sldId id="256"/>
            <p14:sldId id="257"/>
            <p14:sldId id="258"/>
          </p14:sldIdLst>
        </p14:section>
        <p14:section name="해결" id="{4fb9e2bd-54fa-144c-ffc1-9e78b2cfcfda}">
          <p14:sldIdLst>
            <p14:sldId id="259"/>
            <p14:sldId id="260"/>
            <p14:sldId id="261"/>
            <p14:sldId id="262"/>
          </p14:sldIdLst>
        </p14:section>
        <p14:section name="시연" id="{e1e06635-4c47-ef58-2f42-ca8d4b68f5f2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구현" id="{38fdaddf-ea81-1d3c-8502-3c177348218f}">
          <p14:sldIdLst>
            <p14:sldId id="269"/>
            <p14:sldId id="270"/>
            <p14:sldId id="271"/>
          </p14:sldIdLst>
        </p14:section>
        <p14:section name="마무리" id="{a6109435-db4b-0245-5c86-ecea5b905c81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 순서는 ①→⑦이며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없습니다. SQLite 파일 하나가 이력 전부라서 백업이 곧 운영입니다. API는 설정 화면에서 세션 한정으로 켜고 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①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①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ircle-②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ircle-label-②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8" name="circle-③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③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10" name="circle-④"/>
          <p:cNvSpPr/>
          <p:nvPr/>
        </p:nvSpPr>
        <p:spPr>
          <a:xfrm>
            <a:off x="27889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④"/>
          <p:cNvSpPr txBox="1"/>
          <p:nvPr/>
        </p:nvSpPr>
        <p:spPr>
          <a:xfrm>
            <a:off x="27889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12" name="circle-⑤"/>
          <p:cNvSpPr/>
          <p:nvPr/>
        </p:nvSpPr>
        <p:spPr>
          <a:xfrm>
            <a:off x="34747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le-label-⑤"/>
          <p:cNvSpPr txBox="1"/>
          <p:nvPr/>
        </p:nvSpPr>
        <p:spPr>
          <a:xfrm>
            <a:off x="34747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⑤</a:t>
            </a:r>
            <a:endParaRPr lang="en-US" sz="1600" dirty="0"/>
          </a:p>
        </p:txBody>
      </p:sp>
      <p:sp>
        <p:nvSpPr>
          <p:cNvPr id="14" name="circle-⑥"/>
          <p:cNvSpPr/>
          <p:nvPr/>
        </p:nvSpPr>
        <p:spPr>
          <a:xfrm>
            <a:off x="4160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⑥"/>
          <p:cNvSpPr txBox="1"/>
          <p:nvPr/>
        </p:nvSpPr>
        <p:spPr>
          <a:xfrm>
            <a:off x="4160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⑥</a:t>
            </a:r>
            <a:endParaRPr lang="en-US" sz="1600" dirty="0"/>
          </a:p>
        </p:txBody>
      </p:sp>
      <p:sp>
        <p:nvSpPr>
          <p:cNvPr id="16" name="circle-⑦"/>
          <p:cNvSpPr/>
          <p:nvPr/>
        </p:nvSpPr>
        <p:spPr>
          <a:xfrm>
            <a:off x="4846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le-label-⑦"/>
          <p:cNvSpPr txBox="1"/>
          <p:nvPr/>
        </p:nvSpPr>
        <p:spPr>
          <a:xfrm>
            <a:off x="4846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⑦</a:t>
            </a:r>
            <a:endParaRPr lang="en-US" sz="1600" dirty="0"/>
          </a:p>
        </p:txBody>
      </p:sp>
      <p:sp>
        <p:nvSpPr>
          <p:cNvPr id="18" name="circle-⑧"/>
          <p:cNvSpPr/>
          <p:nvPr/>
        </p:nvSpPr>
        <p:spPr>
          <a:xfrm>
            <a:off x="5532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circle-label-⑧"/>
          <p:cNvSpPr txBox="1"/>
          <p:nvPr/>
        </p:nvSpPr>
        <p:spPr>
          <a:xfrm>
            <a:off x="5532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제시(③)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자료(④)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제시(⑧)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8개 화면, 한 번의 흐름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자료 등록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요구서+제출본 → 항목·지표·기준일 구조화, 산출 근거·출처 저장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요구서 분석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기준일·지표의 과거 제출 이력, 유사 요구서, 데이터 출처 제안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수치 대조·점검표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센터·단서 → 사유 입력 → 정합성 점검표 → 개인정보 검사</a:t>
            </a:r>
            <a:endParaRPr lang="en-US" sz="1150" dirty="0"/>
          </a:p>
        </p:txBody>
      </p:sp>
      <p:sp>
        <p:nvSpPr>
          <p:cNvPr id="20" name="arrow-2"/>
          <p:cNvSpPr/>
          <p:nvPr/>
        </p:nvSpPr>
        <p:spPr>
          <a:xfrm>
            <a:off x="888796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ircle-4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circle-label-4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회신 초안·HWPX</a:t>
            </a:r>
            <a:endParaRPr lang="en-US" sz="1400" dirty="0"/>
          </a:p>
        </p:txBody>
      </p:sp>
      <p:sp>
        <p:nvSpPr>
          <p:cNvPr id="25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충족 검사 → Claude 추가 점검 → HWPX·제출 묶음</a:t>
            </a:r>
            <a:endParaRPr lang="en-US" sz="1150" dirty="0"/>
          </a:p>
        </p:txBody>
      </p:sp>
      <p:sp>
        <p:nvSpPr>
          <p:cNvPr id="26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ircle-5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ircle-label-5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30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31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ircle-6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-label-6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5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요구→항목→제출값→사유→초안→승인 한 줄, 키워드 검색</a:t>
            </a:r>
            <a:endParaRPr lang="en-US" sz="1150" dirty="0"/>
          </a:p>
        </p:txBody>
      </p:sp>
      <p:sp>
        <p:nvSpPr>
          <p:cNvPr id="36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ircle-7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circle-label-7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현황·통계</a:t>
            </a:r>
            <a:endParaRPr lang="en-US" sz="1400" dirty="0"/>
          </a:p>
        </p:txBody>
      </p:sp>
      <p:sp>
        <p:nvSpPr>
          <p:cNvPr id="40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1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circle-8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circle-label-8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5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자연어 질문 → 조회 도구 호출 → 근거 레코드와 함께 답(AI)</a:t>
            </a:r>
            <a:endParaRPr lang="en-US" sz="1150" dirty="0"/>
          </a:p>
        </p:txBody>
      </p:sp>
      <p:sp>
        <p:nvSpPr>
          <p:cNvPr id="46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주황 번호(③·④·⑧)가 AI가 기억·예측·연결을 맡는 화면입니다. 설정 화면에서 API 연결·모델·비용을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④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⑧ 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새 요구서 분석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0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수치 대조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1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2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승인 → ⑥ 이력 → ⑦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386869"/>
          </a:xfrm>
          <a:prstGeom prst="roundRect">
            <a:avLst>
              <a:gd name="adj" fmla="val 27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240565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4767613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⑤ 팀장 검토·승인(의견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576728"/>
          </a:xfrm>
          <a:prstGeom prst="roundRect">
            <a:avLst>
              <a:gd name="adj" fmla="val 35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43042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3957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⑥ 요구→항목→제출본→초안→승인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116822"/>
          </a:xfrm>
          <a:prstGeom prst="roundRect">
            <a:avLst>
              <a:gd name="adj" fmla="val 2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70518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9756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⑦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⑧ 이력에 묻기 — 7개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PC 한 대에서 끝나고, API는 선택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(Windows) — run.bat 한 번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브라우저 로컬 실행</a:t>
            </a:r>
            <a:endParaRPr lang="en-US" sz="1050" dirty="0"/>
          </a:p>
        </p:txBody>
      </p:sp>
      <p:sp>
        <p:nvSpPr>
          <p:cNvPr id="8" name="arch-추출·정규화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</a:t>
            </a:r>
            <a:endParaRPr lang="en-US" sz="1300" dirty="0"/>
          </a:p>
        </p:txBody>
      </p:sp>
      <p:sp>
        <p:nvSpPr>
          <p:cNvPr id="10" name="arch-b-추출·정규화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docread(txt·HWPX·PDF·DOCX)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1파일)</a:t>
            </a:r>
            <a:endParaRPr lang="en-US" sz="1300" dirty="0"/>
          </a:p>
        </p:txBody>
      </p:sp>
      <p:sp>
        <p:nvSpPr>
          <p:cNvPr id="22" name="arch-b-이력 DB (SQLite 1파일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58건 → 추출 품질 점검(규칙/Claude) → 화면 흐름 ①~⑧  ·  make_submission_zip.py  ·  capture_screens.py</a:t>
            </a:r>
            <a:endParaRPr lang="en-US" sz="1050" dirty="0"/>
          </a:p>
        </p:txBody>
      </p:sp>
      <p:sp>
        <p:nvSpPr>
          <p:cNvPr id="26" name="arch-Claude API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Claude API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Claude API (선택)</a:t>
            </a:r>
            <a:endParaRPr lang="en-US" sz="1300" dirty="0"/>
          </a:p>
        </p:txBody>
      </p:sp>
      <p:sp>
        <p:nvSpPr>
          <p:cNvPr id="28" name="arch-b-Claude API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대체(404 → 다음 후보)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구조화 출력(JSON 스키마) + 미지원 시 텍스트 파싱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루프(⑧), 429·5xx 재시도, 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 기록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코드 리뷰 회귀 10 + 보안 3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58</a:t>
            </a:r>
            <a:endParaRPr lang="en-US" sz="4000" dirty="0"/>
          </a:p>
        </p:txBody>
      </p:sp>
      <p:sp>
        <p:nvSpPr>
          <p:cNvPr id="8" name="stat-label-pytest 단위 테스트 통과 (모듈 45 + 코드 리뷰 회귀 10 + 보안 3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코드 리뷰 회귀 10 + 보안 3)</a:t>
            </a:r>
            <a:endParaRPr lang="en-US" sz="1200" dirty="0"/>
          </a:p>
        </p:txBody>
      </p:sp>
      <p:sp>
        <p:nvSpPr>
          <p:cNvPr id="9" name="stat-화면 ①~⑧+설정 흐름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화면 ①~⑧+설정 흐름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①~⑧+설정 흐름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6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③ 후보 전부 단서·과거 사유 인용 · ④ 1순위 질문 '타 기관 제출값과의 차이' · ⑧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미수정 1건: 키를 프로세스 환경변수에 두는 구조(한 PC 한 사람 전제로 명시)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환경변수 또는 설정 화면에 이 실행 동안만 입력 — 파일에 저장하지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PC 로컬 SQLite. 외부로는 요구서 문안·센터 단위 확정값·입력 사유·근거 메타, ⑧은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⑧ 도구 결과에서 직원 이름 제거. ③ 집계값·④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 미지원,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단일 PC·SQLite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공유가 필요하면 공유 폴더 DB 또는 소형 서버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2026-10-04T15:31:07Z</dcterms:created>
  <dcterms:modified xsi:type="dcterms:W3CDTF">2026-10-04T15:31:07Z</dcterms:modified>
</cp:coreProperties>
</file>