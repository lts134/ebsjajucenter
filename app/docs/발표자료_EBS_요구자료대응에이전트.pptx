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db76a856-1ea5-20b7-dee4-18711239333e}">
          <p14:sldIdLst>
            <p14:sldId id="256"/>
            <p14:sldId id="257"/>
            <p14:sldId id="258"/>
          </p14:sldIdLst>
        </p14:section>
        <p14:section name="해결" id="{079ea4cb-005b-996c-c0b7-a3c9eeed19f0}">
          <p14:sldIdLst>
            <p14:sldId id="259"/>
            <p14:sldId id="260"/>
            <p14:sldId id="261"/>
            <p14:sldId id="262"/>
          </p14:sldIdLst>
        </p14:section>
        <p14:section name="시연" id="{b1681315-614c-fdf3-6b8a-8294f40e96cd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구현" id="{47805a48-8a96-093d-d9da-fb57cbb29735}">
          <p14:sldIdLst>
            <p14:sldId id="270"/>
            <p14:sldId id="271"/>
            <p14:sldId id="272"/>
          </p14:sldIdLst>
        </p14:section>
        <p14:section name="마무리" id="{302fb3dc-f390-1389-50b8-fa1ad211c1bd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 순서는 ①→⑦이며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과거 제출값은 집계 엑셀보다 한글 공문의 표로 남아 있는 경우가 많습니다. 그래서 집계 엑셀을 따로 만들지 않아도 실적표나 회신 공문을 그대로 넣게 했습니다. 열 매핑은 담당자가 확인하고, 값은 계산하지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별도 서버 없이 부서 공용 PC에서 run_server.bat로 열면 같은 망의 PC가 접속합니다. 접속자마다 설정 화면에 자기 키를 넣고, 키는 그 브라우저 세션에만 있습니다. SQLite 파일 하나가 이력 전부라서 백업이 곧 운영입니다. 공급자는 파일 하나로 갈아끼웁니다.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①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①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ircle-②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ircle-label-②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8" name="circle-③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③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③</a:t>
            </a:r>
            <a:endParaRPr lang="en-US" sz="1600" dirty="0"/>
          </a:p>
        </p:txBody>
      </p:sp>
      <p:sp>
        <p:nvSpPr>
          <p:cNvPr id="10" name="circle-④"/>
          <p:cNvSpPr/>
          <p:nvPr/>
        </p:nvSpPr>
        <p:spPr>
          <a:xfrm>
            <a:off x="27889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④"/>
          <p:cNvSpPr txBox="1"/>
          <p:nvPr/>
        </p:nvSpPr>
        <p:spPr>
          <a:xfrm>
            <a:off x="27889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④</a:t>
            </a:r>
            <a:endParaRPr lang="en-US" sz="1600" dirty="0"/>
          </a:p>
        </p:txBody>
      </p:sp>
      <p:sp>
        <p:nvSpPr>
          <p:cNvPr id="12" name="circle-⑤"/>
          <p:cNvSpPr/>
          <p:nvPr/>
        </p:nvSpPr>
        <p:spPr>
          <a:xfrm>
            <a:off x="34747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le-label-⑤"/>
          <p:cNvSpPr txBox="1"/>
          <p:nvPr/>
        </p:nvSpPr>
        <p:spPr>
          <a:xfrm>
            <a:off x="34747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⑤</a:t>
            </a:r>
            <a:endParaRPr lang="en-US" sz="1600" dirty="0"/>
          </a:p>
        </p:txBody>
      </p:sp>
      <p:sp>
        <p:nvSpPr>
          <p:cNvPr id="14" name="circle-⑥"/>
          <p:cNvSpPr/>
          <p:nvPr/>
        </p:nvSpPr>
        <p:spPr>
          <a:xfrm>
            <a:off x="4160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⑥"/>
          <p:cNvSpPr txBox="1"/>
          <p:nvPr/>
        </p:nvSpPr>
        <p:spPr>
          <a:xfrm>
            <a:off x="4160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⑥</a:t>
            </a:r>
            <a:endParaRPr lang="en-US" sz="1600" dirty="0"/>
          </a:p>
        </p:txBody>
      </p:sp>
      <p:sp>
        <p:nvSpPr>
          <p:cNvPr id="16" name="circle-⑦"/>
          <p:cNvSpPr/>
          <p:nvPr/>
        </p:nvSpPr>
        <p:spPr>
          <a:xfrm>
            <a:off x="4846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le-label-⑦"/>
          <p:cNvSpPr txBox="1"/>
          <p:nvPr/>
        </p:nvSpPr>
        <p:spPr>
          <a:xfrm>
            <a:off x="4846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⑦</a:t>
            </a:r>
            <a:endParaRPr lang="en-US" sz="1600" dirty="0"/>
          </a:p>
        </p:txBody>
      </p:sp>
      <p:sp>
        <p:nvSpPr>
          <p:cNvPr id="18" name="circle-⑧"/>
          <p:cNvSpPr/>
          <p:nvPr/>
        </p:nvSpPr>
        <p:spPr>
          <a:xfrm>
            <a:off x="5532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circle-label-⑧"/>
          <p:cNvSpPr txBox="1"/>
          <p:nvPr/>
        </p:nvSpPr>
        <p:spPr>
          <a:xfrm>
            <a:off x="5532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⑧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제시(③)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자료(④)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제시(⑧)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8개 화면, 한 번의 흐름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자료 등록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요구서+제출본 → 항목·지표·기준일 구조화, 산출 근거·출처 저장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새 요구서 분석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같은 기준일·지표의 과거 제출 이력, 유사 요구서, 데이터 출처 제안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수치 대조·점검표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센터·단서 → 사유 입력 → 정합성 점검표 → 개인정보 검사</a:t>
            </a:r>
            <a:endParaRPr lang="en-US" sz="1150" dirty="0"/>
          </a:p>
        </p:txBody>
      </p:sp>
      <p:sp>
        <p:nvSpPr>
          <p:cNvPr id="20" name="arrow-2"/>
          <p:cNvSpPr/>
          <p:nvPr/>
        </p:nvSpPr>
        <p:spPr>
          <a:xfrm>
            <a:off x="888796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ircle-4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circle-label-4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회신 초안·HWPX</a:t>
            </a:r>
            <a:endParaRPr lang="en-US" sz="1400" dirty="0"/>
          </a:p>
        </p:txBody>
      </p:sp>
      <p:sp>
        <p:nvSpPr>
          <p:cNvPr id="25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충족 검사 → Claude 추가 점검 → HWPX·제출 묶음</a:t>
            </a:r>
            <a:endParaRPr lang="en-US" sz="1150" dirty="0"/>
          </a:p>
        </p:txBody>
      </p:sp>
      <p:sp>
        <p:nvSpPr>
          <p:cNvPr id="26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ircle-5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ircle-label-5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30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31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circle-6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circle-label-6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4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5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요구→항목→제출값→사유→초안→승인 한 줄, 키워드 검색</a:t>
            </a:r>
            <a:endParaRPr lang="en-US" sz="1150" dirty="0"/>
          </a:p>
        </p:txBody>
      </p:sp>
      <p:sp>
        <p:nvSpPr>
          <p:cNvPr id="36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ircle-7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circle-label-7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현황·통계</a:t>
            </a:r>
            <a:endParaRPr lang="en-US" sz="1400" dirty="0"/>
          </a:p>
        </p:txBody>
      </p:sp>
      <p:sp>
        <p:nvSpPr>
          <p:cNvPr id="40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1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circle-8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circle-label-8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4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5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자연어 질문 → 조회 도구 호출 → 근거 레코드와 함께 답(AI)</a:t>
            </a:r>
            <a:endParaRPr lang="en-US" sz="1150" dirty="0"/>
          </a:p>
        </p:txBody>
      </p:sp>
      <p:sp>
        <p:nvSpPr>
          <p:cNvPr id="46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주황 번호(③·④·⑧)가 AI가 기억·예측·연결을 맡는 화면입니다. 설정 화면에서 API 연결·모델·비용을 확인합니다.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④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⑧ 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① 과거 자료 등록 — 그때 낸 실적표·회신 공문의 표를 그대로 넣는다</a:t>
            </a:r>
            <a:endParaRPr lang="en-US" sz="2800" dirty="0"/>
          </a:p>
        </p:txBody>
      </p:sp>
      <p:sp>
        <p:nvSpPr>
          <p:cNvPr id="3" name="frame-01b_열매핑.png"/>
          <p:cNvSpPr/>
          <p:nvPr/>
        </p:nvSpPr>
        <p:spPr>
          <a:xfrm>
            <a:off x="475488" y="1298448"/>
            <a:ext cx="2432304" cy="4626864"/>
          </a:xfrm>
          <a:prstGeom prst="roundRect">
            <a:avLst>
              <a:gd name="adj" fmla="val 3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1b_열매핑.png" descr="/tmp/claude-0/-home-user-ebsjajucenter/339b2177-8504-5831-abfe-1ed2cf264c84/scratchpad/deck/img/01b_열매핑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2286000" cy="4480560"/>
          </a:xfrm>
          <a:prstGeom prst="rect">
            <a:avLst/>
          </a:prstGeom>
        </p:spPr>
      </p:pic>
      <p:sp>
        <p:nvSpPr>
          <p:cNvPr id="5" name="cap-01b_열매핑.png"/>
          <p:cNvSpPr txBox="1"/>
          <p:nvPr/>
        </p:nvSpPr>
        <p:spPr>
          <a:xfrm>
            <a:off x="54864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가로 펼침 실적표 → 열 매핑 → 48건 변환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3108960" y="137160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실무 서식 그대로 읽음: 제목 행('… 2026. 6. 30. 기준'), 병합 머리글('개소'+'운영' → '개소 운영'), 행=센터·열=지표인 가로 펼침, 합계·주석 행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화면에서 센터 열·값 열·기준일(제목 날짜가 기본값)·값 열별 지표명(사전에 있으면 정규 지표명)을 확인해 변환. 값은 옮기기만 하고 계산하지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그때 보낸 회신 공문(hwpx·docx·pdf)을 올리면 문서 안의 표를 찾아 같은 방식으로 읽고, 출처에 '회신 문서 표에서 추출'이 남음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표 파일이 없으면 직접 입력. 키가 있으면 Claude가 열 매핑을 제안하되 확정은 담당자</a:t>
            </a:r>
            <a:endParaRPr lang="en-US" sz="1250" dirty="0"/>
          </a:p>
        </p:txBody>
      </p:sp>
      <p:sp>
        <p:nvSpPr>
          <p:cNvPr id="7" name="tbl-title-input"/>
          <p:cNvSpPr txBox="1"/>
          <p:nvPr/>
        </p:nvSpPr>
        <p:spPr>
          <a:xfrm>
            <a:off x="3108960" y="41605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제출값 입력 방식 3가지 (①·③ 공통)</a:t>
            </a:r>
            <a:endParaRPr lang="en-US" sz="1100" dirty="0"/>
          </a:p>
        </p:txBody>
      </p:sp>
      <p:graphicFrame>
        <p:nvGraphicFramePr>
          <p:cNvPr id="10" name="tbl-inpu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448056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방식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받는 서식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집계 엑셀/CSV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긴 형식(지표명·센터명·기준일·값) 또는 실적표 그대로(제목·병합 머리글·가로 펼침)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'67.8%', '2026. 6. 30.' 허용 · 시트 선택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회신 문서의 표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· docx · pdf(글자 추출 가능한 것)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구형식은 HWPX로 저장 후 · 스캔본 불가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직접 입력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화면에서 행 추가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건수가 적은 과거 건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② 새 요구서 분석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1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수치 대조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2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④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3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⑤ 승인 → ⑥ 이력 → ⑦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386869"/>
          </a:xfrm>
          <a:prstGeom prst="roundRect">
            <a:avLst>
              <a:gd name="adj" fmla="val 27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240565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4767613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⑤ 팀장 검토·승인(의견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576728"/>
          </a:xfrm>
          <a:prstGeom prst="roundRect">
            <a:avLst>
              <a:gd name="adj" fmla="val 35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43042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39574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⑥ 요구→항목→제출본→초안→승인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116822"/>
          </a:xfrm>
          <a:prstGeom prst="roundRect">
            <a:avLst>
              <a:gd name="adj" fmla="val 2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70518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9756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⑦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⑧ 이력에 묻기 — 7개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부서 PC 한 대에서 끝나고, AI는 갈아끼우는 모듈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또는 부서 공용 PC — run.bat(혼자) / run_server.bat(여럿)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접속자(브라우저 세션)별 키·모델·호출 기록</a:t>
            </a:r>
            <a:endParaRPr lang="en-US" sz="1050" dirty="0"/>
          </a:p>
        </p:txBody>
      </p:sp>
      <p:sp>
        <p:nvSpPr>
          <p:cNvPr id="8" name="arch-추출·정규화·표 읽기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·표 읽기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추출·정규화·표 읽기</a:t>
            </a:r>
            <a:endParaRPr lang="en-US" sz="1300" dirty="0"/>
          </a:p>
        </p:txBody>
      </p:sp>
      <p:sp>
        <p:nvSpPr>
          <p:cNvPr id="10" name="arch-b-추출·정규화·표 읽기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docread(txt·HWPX·PDF·DOCX)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tabular(제목·병합 머리글·가로 펼침 표)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, 공유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, 공유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1파일, 공유)</a:t>
            </a:r>
            <a:endParaRPr lang="en-US" sz="1300" dirty="0"/>
          </a:p>
        </p:txBody>
      </p:sp>
      <p:sp>
        <p:nvSpPr>
          <p:cNvPr id="22" name="arch-b-이력 DB (SQLite 1파일, 공유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WAL 모드(동시 접속)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76건 → 추출 품질 점검(규칙/Claude) → 화면 흐름 ①~⑧  ·  make_submission_zip.py  ·  capture_screens.py</a:t>
            </a:r>
            <a:endParaRPr lang="en-US" sz="1050" dirty="0"/>
          </a:p>
        </p:txBody>
      </p:sp>
      <p:sp>
        <p:nvSpPr>
          <p:cNvPr id="26" name="arch-LLM 공급자 모듈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LLM 공급자 모듈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 공급자 모듈 (선택)</a:t>
            </a:r>
            <a:endParaRPr lang="en-US" sz="1300" dirty="0"/>
          </a:p>
        </p:txBody>
      </p:sp>
      <p:sp>
        <p:nvSpPr>
          <p:cNvPr id="28" name="arch-b-LLM 공급자 모듈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 → providers.py 플러그인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기본 Anthropic Claude, provider_*.py 파일 하나로 사내 게이트웨이 등 교체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대체, 구조화 출력 + 텍스트 파싱 대체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루프(⑧), 재시도·타임아웃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비용(세션별)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모듈 45 + 리뷰 회귀 10 + 보안 3 + 세션·공급자 6 + 표 구조·문서 표 12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76</a:t>
            </a:r>
            <a:endParaRPr lang="en-US" sz="4000" dirty="0"/>
          </a:p>
        </p:txBody>
      </p:sp>
      <p:sp>
        <p:nvSpPr>
          <p:cNvPr id="8" name="stat-label-pytest 단위 테스트 통과 (모듈 45 + 리뷰 회귀 10 + 보안 3 + 세션·공급자 6 + 표 구조·문서 표 12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(모듈 45 + 리뷰 회귀 10 + 보안 3 + 세션·공급자 6 + 표 구조·문서 표 12)</a:t>
            </a:r>
            <a:endParaRPr lang="en-US" sz="1200" dirty="0"/>
          </a:p>
        </p:txBody>
      </p:sp>
      <p:sp>
        <p:nvSpPr>
          <p:cNvPr id="9" name="stat-화면 ①~⑧+설정 흐름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화면 ①~⑧+설정 흐름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①~⑧+설정 흐름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7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③ 후보 전부 단서·과거 사유 인용 · ④ 1순위 질문 '타 기관 제출값과의 차이' · ⑧ 요구번호·제출일 명시, 없는 이력은 '없음'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독립 코드 리뷰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결함 15건 중 14건 수정(DB 잠금 오판·빈 항목 크래시·모델 설정 미반영·중복 행·엑셀 날짜 단서 등), 회귀 테스트 10건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남은 1건(키를 프로세스 환경변수에 두는 구조)은 세션별 자격증명으로 바꿔 해소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접속자가 설정 화면에 입력, 그 브라우저 세션에만 보관 — 서버 파일 저장·다른 접속자 공유 없음(운영자 공통 키는 서버 환경변수)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사내 PC의 SQLite. 외부로는 요구서 문안·센터 단위 확정값·입력 사유·근거 메타, ⑧은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요구서 원문의 전화·이메일·주민번호·계좌 패턴은 Claude 전송 전 자동 마스킹. ⑧ 도구 결과에서 직원 이름 제거. ③ 집계값·④ 초안도 개인정보 패턴 검사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동작. 공급자 모듈로 사내 LLM 게이트웨이 교체 가능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 미지원,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서버 모드에 접속자 인증 없음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사내망 안에서만 운영. 필요 시 사내 SSO·역방향 프록시 인증 앞단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2026-10-06T07:26:04Z</dcterms:created>
  <dcterms:modified xsi:type="dcterms:W3CDTF">2026-10-06T07:26:04Z</dcterms:modified>
</cp:coreProperties>
</file>